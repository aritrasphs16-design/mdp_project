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64592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BCD4"/>
                </a:solidFill>
                <a:latin typeface="Arial"/>
              </a:rPr>
              <a:t>ChemoFilter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D2E6"/>
                </a:solidFill>
                <a:latin typeface="Arial"/>
              </a:rPr>
              <a:t>An Advanced Computational Drug Discovery &amp; Screening Platform
Comprehensive Overview for the Chemistry Department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F37"/>
                </a:solidFill>
                <a:latin typeface="Arial"/>
              </a:rPr>
              <a:t>Powered by RDKit · Anthropic Claude AI ·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What we will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89888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1 · Introduction &amp; 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48256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2 · Platform Overview — What is ChemoFilter?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06624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96896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3 · ADMET &amp; Physicochemical Properties (with definitions)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64991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55263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4 · Drug-likeness Filters — Lipinski, Muegge, PAINS, Brenk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59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1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5 · Toxicity Indicators — hepatotoxicity, hERG, Ames, CYP450 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81727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71999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6 · Structural Analysis — SMILES, InChI, Scaffolds, Alerts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40095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230367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7 · Core Capabilities  ·  8 · ChemoScore  ·  9 · Workflow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998463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888735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10 · AI Integration  ·  11 · Unique Features  ·  12 · Future Scope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6656831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3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13 · References  ·  14 ·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The Drug Discovery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Why computational pre-screening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89888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Arial"/>
              </a:rPr>
              <a:t>💊  ~90 % of drug candidates that enter clinical trials ultimately fail.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48256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Arial"/>
              </a:rPr>
              <a:t>⏱  Traditional hit-to-lead optimisation takes 3–5 years and $100 M+.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06624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96896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Arial"/>
              </a:rPr>
              <a:t>🔬  Computational chemists jump between 10+ isolated tools — wasting weeks.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64991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55263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Arial"/>
              </a:rPr>
              <a:t>☠  Hidden toxicity (liver damage, cardiac arrest risk) discovered too late.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59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1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Arial"/>
              </a:rPr>
              <a:t>📉  Poor oral bioavailability discovered only after in-vivo experiments.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81727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71999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Arial"/>
              </a:rPr>
              <a:t>💡  Solution: One unified platform that catches problems in MINUTES.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ChemoFilter — 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A unified in-silico drug screening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89888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🧪  Input: Any chemical structure in SMILES notation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48256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⚙  Engine: RDKit (open-source cheminformatics) + 21 analysis modules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06624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96896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📊  Output: 380+ physicochemical properties, drug-likeness scores, toxicity flags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64991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55263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🤖  AI Layer: Anthropic Claude explains results in plain language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59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1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📁  Batch Mode: Screen thousands of compounds from a CSV 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81727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71999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🌐  Deployment: Streamlit web app — no installation needed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40095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230367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🔒  Privacy: All computation is local — proprietary structures stay private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64592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228600" cy="1645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Arial"/>
              </a:rPr>
              <a:t>Slide Set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889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CD4"/>
                </a:solidFill>
                <a:latin typeface="Arial"/>
              </a:rPr>
              <a:t>ADMET &amp; Physicochemical Properties</a:t>
            </a: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C8D2E6"/>
                </a:solidFill>
                <a:latin typeface="Arial"/>
              </a:rPr>
              <a:t>Defining the key metrics used to evaluate every molecule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What is ADMET?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The five pillars of drug behaviour inside the human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A — Absorption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How much of an orally administered drug reaches the bloodstream. Poor absorption = drug never works. Assessed via LogP, TPSA, solubility.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D —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How the drug spreads through tissues, organs, and plasma after absorption. Governed by protein binding and lipophilicity (LogP).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M — Metabolism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How the body chemically modifies the drug, mainly in the liver via CYP450 enzymes. Rapid metabolism can inactivate a drug before it reaches its target.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E — Excretion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How the drug and its metabolites are removed from the body (kidney urine, bile). Poor excretion leads to toxic accumulation.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T — Toxicity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Harmful effects on cells, organs, or DNA. Includes liver toxicity (hepatotoxicity), kidney damage (nephrotoxicity), and cardiac risk (hERG inhibition).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Molecular Weight (MW)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Physicochemical property — size of the molecule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The sum of atomic masses of all atoms in a molecule, expressed in Daltons (Da) or g/mol.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Large molecules (MW &gt; 500 Da) struggle to cross biological membranes and are poorly absorbed from the gut.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Lipinski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MW ≤ 500 Da for oral drug candidates (Rule of 5).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Aspirin = 180 Da ✅ | Cyclosporin A = 1,203 Da ❌ (oral bioavailability poor)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ChemoFilter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Calculated automatically by RDKit; flagged if &gt; 500 Da with colour-coded warning.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LogP — Partition Coefficient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Measure of a molecule's fat-solubility vs water-solubility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Log₁₀ of the ratio of compound concentration in octanol vs water. Quantifies how 'oily' or 'water-loving' a molecule 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Positive LogP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Molecule prefers fat/lipid environments → crosses cell membranes easily but may be poorly soluble in blood plasma.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Negative LogP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Molecule prefers water → high solubility but poor membrane penetration.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Optimal 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LogP between −0.4 and +5.0 for most orally active drugs (Lipinski Rule: ≤ 5).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Ibuprofen LogP ≈ 3.5 ✅ | Very lipophilic CNS drugs LogP &gt; 5 → toxicity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TPSA — Topological Polar Surface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Predicts membrane permeability and oral absorption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The surface area (in Ų) of all polar atoms (O, N, S) in a molecule including attached hydrogens.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Large polar surface = molecule cannot easily dissolve through the non-polar lipid bilayer of cell membranes.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Drug absorption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TPSA ≤ 140 Ų → adequate intestinal absorption. TPSA ≤ 90 Ų → good CNS penetration (crosses blood-brain barrier).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Computed purely from 2D topology (atom types + neighbours) — fast and reproducible with RDKit.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Paracetamol TPSA ≈ 49 Ų ✅ (well-absorbed) | Glucose TPSA ≈ 110 Ų (poorly absorbed, needs transporters)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HBD &amp; HBA — Hydrogen Bond Donors &amp; Acceptors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Polarity descriptors governing solubility and permeability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HBD — Donor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Atoms with an N–H or O–H bond that can donate a hydrogen in a hydrogen bond. More donors → more polar → harder to cross membranes.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HBA — Acceptor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Electronegative atoms (O, N, F) that can accept a hydrogen bond. Excess acceptors → high polarity → poor absorption.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Lipinski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HBD ≤ 5 and HBA ≤ 10 for orally bioavailable drugs (Rule of 5).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Physical intuition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Think of H-bonds as 'sticky patches'. Too many patches = drug sticks to water molecules and can't enter cells.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Aspirin: HBD=1, HBA=3 ✅ | Peptide drugs: HBD&gt;10 → poor oral absorption 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Rotatable Bonds &amp; QED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Flexibility and overall drug-likeness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Rotatable Bonds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Single bonds (not in rings) that allow the molecule to change shape. More rotatable bonds → more flexible → harder to adopt one stable binding pose.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Rotatable Bond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≤ 10 rotatable bonds preferred. Very flexible molecules (&gt; 10) show poor oral bioavailability (Veber rules).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QED — 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Quantitative Estimate of Drug-likeness. A single score 0–1 combining MW, LogP, HBD, HBA, TPSA, rotatable bonds, aromaticity, and alerts.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QED 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QED &gt; 0.67 = drug-like (top 10% of approved drugs). QED &lt; 0.34 = poor drug-likeness.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Ibuprofen QED ≈ 0.73 ✅ | Random synthetic compound QED ≈ 0.2 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64592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228600" cy="1645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Arial"/>
              </a:rPr>
              <a:t>Slide Set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889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CD4"/>
                </a:solidFill>
                <a:latin typeface="Arial"/>
              </a:rPr>
              <a:t>Drug-likeness Filters</a:t>
            </a: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C8D2E6"/>
                </a:solidFill>
                <a:latin typeface="Arial"/>
              </a:rPr>
              <a:t>Rule-based and pattern-based screens to eliminate poor candidates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Lipinski's Rule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The gold-standard filter for oral bioavailability — Pfizer, 1997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Origin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Proposed by Christopher Lipinski at Pfizer after analysing 2,245 orally active drugs in the World Drug Index.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The 5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MW ≤ 500 Da | LogP ≤ 5 | HBD ≤ 5 | HBA ≤ 10 | (Rotatable bonds ≤ 10)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 compound violating ≥ 2 rules is very likely to have poor oral absorption or membrane permeability.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Important caveat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Exceptions exist: natural product scaffolds, prodrugs, and transporter substrates often violate Ro5 yet are still oral drugs.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ChemoFilter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Computes all four Lipinski parameters and flags any violations with a coloured badge (Green=pass, Red=fail).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Muegge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Extended drug-likeness criteria from Bayer — broader than Lipinski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Origin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Developed by Ingo Muegge at Bayer AG using trade drug databases; more liberal than Lipinski for lead optimisation.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MW 200–600 Da | LogP −2 to +5 | TPSA ≤ 150 Ų | Rotatable bonds ≤ 15 | Rings ≤ 7 | HBD ≤ 5 | HBA ≤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Advantage over Lipinski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Allows slightly larger, more complex molecules suitable for modern medicinal chemistry fragment-to-lead campaigns.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Use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Applied when screening for 'lead-like' compounds — molecules with higher potency potential even at the cost of some oral absorption.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ChemoFilter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Runs Muegge checks in parallel with Lipinski — both pass/fail summaries shown in the Drug-likeness tab.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PAINS — Pan-Assay Interference Compounds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Eliminating false positives from high-throughput screening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What are PAINS?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Chemical substructures (functional groups) that produce 'hits' in biological assays not because they bind the target, but due to non-specific interference (fluorescence, redox activity, aggregation).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 PAINS compound appears to be a drug hit in every assay tested — it creates false leads, wasting enormous resources.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How detected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SMARTS pattern matching against 480 known PAINS substructures (Baell &amp; Holloway, J. Med. Chem. 2010).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Common PAINS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Rhodanines, catechols, quinones, Michael acceptors, frequent-hitter scaffolds.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ChemoFilter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Any PAINS match immediately flags the compound as 'Unreliable for screening' — prevents wasted wet-lab follow-up.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Brenk Structural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Flagging reactive and unstable chemical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Origin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Published by Brenk et al. (ChemMedChem, 2008) — 105 SMARTS patterns for problematic functional groups.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What they flag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Metabolically unstable groups, reactive electrophiles, genotoxic functionalities, poor pharmacokinetic groups.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Acyl halides | Epoxides | Aldehydes | Nitroaromatics | Peroxides | Thiols | Diazonium salts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Difference from PAINS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PAINS = assay interference. Brenk = chemical instability or direct toxicity. Both are important to check.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ChemoFilter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Lists all matched Brenk alerts by name with the offending substructure highlighted, allowing targeted structural modification.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64592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228600" cy="1645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Arial"/>
              </a:rPr>
              <a:t>Slide Set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889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CD4"/>
                </a:solidFill>
                <a:latin typeface="Arial"/>
              </a:rPr>
              <a:t>Toxicity Indicators</a:t>
            </a: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C8D2E6"/>
                </a:solidFill>
                <a:latin typeface="Arial"/>
              </a:rPr>
              <a:t>Organ-specific and genetic toxicity terms defined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Hepatotoxicity &amp; Nephrotoxicity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Liver and kidney damage — the two most common causes of drug withdrawal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Hepatotoxicity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Drug-induced liver injury (DILI). The liver processes most drugs via CYP450 enzymes; reactive metabolites can destroy hepatocytes.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Hepatotoxicity 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Structural alerts: acetaminophen-like quinones, hydrazines, aromatic amines → bioactivated to toxic metabolites.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Nephrotoxicity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Kidney damage caused by a drug or its metabolites. Kidneys filter blood and concentrate drugs — high local exposure damages tubules.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Nephrotoxicity markers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High MW polar compounds, heavy metal complexes, cyclosporin-like structures that accumulate in renal tubular cells.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Clinical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~30% of post-market drug withdrawals are due to DILI. ChemoFilter flags both using rule-based structure alerts.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Ames Mutagenicity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Predicting DNA-damaging potential from molecular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What is the Ames test?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 bacterial assay (Salmonella typhimurium) used since 1973 to detect chemicals that cause mutations in DNA.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How it works (wet lab)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Bacteria with a histidine mutation are exposed to the test compound; revertant colonies indicate the compound can mutate DNA.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In-silico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Cheminformatics models trained on thousands of experimental Ames results predict mutagenicity from SMARTS patterns.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Key mutagenic groups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Nitroaromatics | Primary aromatic amines | Alkylating agents | Azo compounds | Acridines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Regulatory importance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ICH S2(R1) guidelines mandate Ames testing for all new drugs. ChemoFilter uses structural alerts as an early warning before lab work.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hERG Inhibition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Predicting dangerous cardiac side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What is hERG?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Human Ether-à-go-go Related Gene — encodes a cardiac potassium ion channel (Kv11.1) essential for normal heart rhythm.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Why blocking hERG is dangerous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Inhibiting hERG prolongs the QT interval on ECG → potentially fatal arrhythmia (Torsades de Pointes → ventricular fibrillation → death).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Structural features that block hERG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Basic nitrogen (pKa 8–9) combined with aromatic rings and hydrophobic bulk — many drugs have this pharmacophore accidentally.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Famous withdrawals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Cisapride (stomach drug), Terfenadine (antihistamine), Astemizole — all withdrawn due to hERG-related deaths.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ChemoFilter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Computes hERG risk score from molecular features; alerts chemist to cardiac liability before any animal testing.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Blood-Brain Barrier (BBB) Permeability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Predicting whether a drug can enter the brain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What is the BBB?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 highly selective semi-permeable membrane separating circulating blood from the brain's extracellular fluid — formed by tight junctions.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CNS drug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CNS drugs MUST cross the BBB. Peripheral drugs must NOT cross (to avoid neurological side effects).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Molecular rules for BBB crossing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MW &lt; 450 Da | LogP 1–3 | TPSA &lt; 90 Ų | HBD ≤ 3 | Not a P-gp efflux transporter substrate.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Diazepam (Valium) BBB+ ✅ — small, lipophilic | Gentamicin (antibiotic) BBB− ✅ — stays peripheral, no CNS toxicity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ChemoFilter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Predicts BBB+ / BBB− status using TPSA, LogP, and MW thresholds; critical for both CNS drug design and safety profiling.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CYP450 Metabolism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How the liver's enzyme family transforms drug molecules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What are CYP450s?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Cytochrome P450 enzymes — a superfamily of ~57 human enzymes responsible for oxidising ~75% of all marketed drugs.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Key isoforms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CYP3A4 (handles ~50% of drugs) | CYP2D6 | CYP2C9 | CYP2C19 | CYP1A2 — each with different substrate preferences.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Inhibition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Drug A inhibits CYP3A4 → Drug B (also CYP3A4 substrate) levels spike dangerously → drug–drug interaction (DDI).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Induction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Drug A induces CYP3A4 production → Drug B metabolised too fast → therapeutic failure (e.g., rifampicin reduces contraceptive efficacy).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ChemoFilter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Uses structural rules to predict whether a compound inhibits or induces major CYP isoforms — essential for DDI risk assessment.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64592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228600" cy="1645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Arial"/>
              </a:rPr>
              <a:t>Slide Set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889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CD4"/>
                </a:solidFill>
                <a:latin typeface="Arial"/>
              </a:rPr>
              <a:t>Structural Analysis</a:t>
            </a: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C8D2E6"/>
                </a:solidFill>
                <a:latin typeface="Arial"/>
              </a:rPr>
              <a:t>Chemical notation, representation, and substructure concepts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SMILES 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The universal language for writing chemical structures as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What is SMILES?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Simplified Molecular Input Line Entry System — a text-based notation encoding a molecule's atoms, bonds, and topology.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Atoms represented by element symbols. Bonds: single (−), double (=), triple (#). Branches in parentheses ().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Aspirin = CC(=O)Oc1ccccc1C(=O)O | Ethanol = CCO | Benzene = c1ccccc1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Why important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Enables computers to read, store, and compare chemical structures as simple strings — the input format for ChemoFilter.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ChemoFilter 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Paste any SMILES string → RDKit parses it → all 380+ properties calculated instantly. Invalid SMILES flagged with error message.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InChI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A standardised, fixed-length chemical identifier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What is InChI?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International Chemical Identifier — a IUPAC standard string representation of a molecule's structure (IUPAC, 2005).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What is InChIKey?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 27-character fixed-length hash of the InChI string designed for database search and deduplication.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Aspirin InChIKey = BSYNRYMUTXBXSQ-UHFFFAOYSA-N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Advantage over SMILES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InChIKey is unique per molecule — no matter how you draw a structure, the InChIKey is always the same (canonical). SMILES can vary.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ChemoFilter 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Converts SMILES to InChIKey for cross-referencing against DrugBank, PubChem, and ChEMBL databases to find known analogues.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Scaffold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Identifying the core ring system shared by a drug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What is a scaffold?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The central ring system (core structure) of a drug molecule after removing all side chains — defines the pharmacophoric 'skeleton'.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Bemis–Murcko scaffold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The most common scaffold definition: retains all ring systems and the linker atoms connecting them. Named after Bemis &amp; Murcko, 1996.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Why scaffolds matter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Drugs with the same scaffold often share mechanism of action, toxicity profiles, and patent status — vital for IP and safety.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Scaffold diversity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 screening library with high scaffold diversity → better chance of finding a hit for a novel target.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ChemoFilter 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Extracts Bemis–Murcko scaffold via RDKit; plots scaffold frequency histograms for batch library analysis — shows structural clustering.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Structural Alerts &amp; Toxicophores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Molecular substructures predictive of toxicity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Structural Alert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1673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 specific chemical substructure (defined by a SMARTS pattern) known to be associated with toxicity, reactivity, or poor drug behaviour.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39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2315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Toxicophore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14015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 pharmacophore for toxicity — a spatial arrangement of features that causes a toxic interaction with a biological macromolecule.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7472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39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1129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Nitroaromatic group → mutagenicity | Quinone → oxidative stress | Epoxide → DNA alkylation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7200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SMARTS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SMARTS = SMILES ARbitrary Target Specification — a pattern language for substructure searching (superset of SMILES, supports wildcards).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69280"/>
            <a:ext cx="2743200" cy="1051560"/>
          </a:xfrm>
          <a:prstGeom prst="rect">
            <a:avLst/>
          </a:prstGeom>
          <a:solidFill>
            <a:srgbClr val="1E32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1500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AF37"/>
                </a:solidFill>
                <a:latin typeface="Arial"/>
              </a:rPr>
              <a:t>ChemoFilter 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705856"/>
            <a:ext cx="8778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Checks every molecule against 480 PAINS + 105 Brenk SMARTS patterns + custom toxicophore library — all flagged with names and explanations.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64592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228600" cy="1645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Arial"/>
              </a:rPr>
              <a:t>Slide Set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889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CD4"/>
                </a:solidFill>
                <a:latin typeface="Arial"/>
              </a:rPr>
              <a:t>Core Platform Capabilities</a:t>
            </a: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C8D2E6"/>
                </a:solidFill>
                <a:latin typeface="Arial"/>
              </a:rPr>
              <a:t>What ChemoFilter can do for your research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Analysis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380+ properties computed per molecule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07008"/>
            <a:ext cx="5577840" cy="3657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161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42D"/>
                </a:solidFill>
                <a:latin typeface="Arial"/>
              </a:rPr>
              <a:t>Property Calculations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07008"/>
            <a:ext cx="557784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161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42D"/>
                </a:solidFill>
                <a:latin typeface="Arial"/>
              </a:rPr>
              <a:t>Screening &amp; Filters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664208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700784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✅  Molecular Weight, Formula, SMILES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64208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00784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🔍  Lipinski Rule of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286000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322576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✅  LogP, LogD, LogS (solubility)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286000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322576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🔍  Muegge lead-likeness filter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907792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944368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✅  TPSA, PSA, Fsp3 (sp3 fraction)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907792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944368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🔍  Veber oral bioavailability 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529584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566160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✅  HBD, HBA, Rotatable Bonds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529584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566160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🔍  PAINS detection (480 patterns)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151376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187952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✅  Ring count, Aromatic rings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151376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187952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🔍  Brenk alert detection (105 patterns)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773168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809744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✅  QED Score (0–1 drug-likeness)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773168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809744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🔍  hERG inhibition prediction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5394960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5431536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✅  Molar Refractivity (size + polarity)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394960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431536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🔍  BBB permeability prediction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6016752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6053328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✅  Chiral centres, stereocentres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6016752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6053328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🔍  CYP450 inhibition flags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Toxicity &amp; AI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Safety profiling and intelligent explanations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07008"/>
            <a:ext cx="5577840" cy="3657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161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42D"/>
                </a:solidFill>
                <a:latin typeface="Arial"/>
              </a:rPr>
              <a:t>Toxicity Prediction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07008"/>
            <a:ext cx="557784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161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42D"/>
                </a:solidFill>
                <a:latin typeface="Arial"/>
              </a:rPr>
              <a:t>AI &amp; Visualisation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664208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700784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☢  Ames mutagenicity prediction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64208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00784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🤖  Claude AI plain-language explanation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286000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322576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☢  Hepatotoxicity structural alert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286000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322576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🤖  Drug analogue suggestions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907792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944368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☢  Nephrotoxicity flagging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907792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944368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🤖  Repurposing opportunities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529584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566160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☢  Reactive metabolite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529584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566160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📊  Radar chart (property profile)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151376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187952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☢  Genotoxicity (DNA-reactive groups)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151376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187952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📊  3D conformer viewer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773168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809744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☢  Skin sensitisation alerts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773168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809744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📊  Scaffold clustering plot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5394960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5431536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☢  Environmental toxicity flags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394960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431536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📊  Batch CSV report export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64592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228600" cy="1645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Arial"/>
              </a:rPr>
              <a:t>Slide Set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889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CD4"/>
                </a:solidFill>
                <a:latin typeface="Arial"/>
              </a:rPr>
              <a:t>ChemoScore — The Unified Drug Quality Score</a:t>
            </a: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C8D2E6"/>
                </a:solidFill>
                <a:latin typeface="Arial"/>
              </a:rPr>
              <a:t>A single number summarising all analysis results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ChemoScore —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How the overall drug quality grade is calculated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89888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📐  ChemoScore = Weighted sum of four sub-scores: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48256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     ① Structural Score    — scaffold quality, alerts, PAINS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06624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96896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     ② PhysChem Score     — MW, LogP, TPSA within optimal ranges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64991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55263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     ③ Safety Score        — hERG, Ames, BBB, CYP flags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59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1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     ④ Synthesis Score     — synthetic accessibility, complexity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81727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71999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⚖  Researchers adjust weights via interactive sliders (e.g., safety × 2 for CNS drugs)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40095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230367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🏅  Grades: A (≥ 80) · B (60–79) · C (40–59) · F (&lt; 40)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998463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888735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🚀  Allows instant ranking of 1,000+ compounds — top hits identified in seconds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64592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228600" cy="1645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Arial"/>
              </a:rPr>
              <a:t>Slide Set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889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CD4"/>
                </a:solidFill>
                <a:latin typeface="Arial"/>
              </a:rPr>
              <a:t>Computational Workflow</a:t>
            </a: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C8D2E6"/>
                </a:solidFill>
                <a:latin typeface="Arial"/>
              </a:rPr>
              <a:t>Step-by-step: how a molecule is analysed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How ChemoFilter Analyses a Molecule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From SMILES string to actionable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89888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STEP 1 · Input   — Paste SMILES string (single) or upload CSV (batch)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48256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STEP 2 · Parse   — RDKit converts SMILES → RDKit Mol object (validates structure)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06624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96896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STEP 3 · Feature Engine  — Calculates MW, LogP, TPSA, HBD, HBA, QED, Fsp3 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64991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55263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STEP 4 · Filter Engine   — Checks Lipinski / Muegge / PAINS / Brenk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59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1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STEP 5 · Toxicity Engine — Evaluates hepatotoxicity, hERG, Ames, CYP patterns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81727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71999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STEP 6 · ChemoScore      — Combines all scores with user-defined weights → Grade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40095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230367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STEP 7 · AI Explanation  — Claude API generates chemist-friendly summary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998463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888735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STEP 8 · Export          — Download full report as CSV / JSON / text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64592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228600" cy="1645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Arial"/>
              </a:rPr>
              <a:t>Slide Set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889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CD4"/>
                </a:solidFill>
                <a:latin typeface="Arial"/>
              </a:rPr>
              <a:t>AI Integration — Claude by Anthropic</a:t>
            </a: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C8D2E6"/>
                </a:solidFill>
                <a:latin typeface="Arial"/>
              </a:rPr>
              <a:t>Making results understandable for every chemist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AI-Powered Explanations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How Anthropic Claude enhances ChemoFilter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89888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🤖  Natural Language Summaries: 'This compound has good oral absorption but cardiac risk due to its basic nitrogen group adjacent to the aromatic ring...'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48256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💊  Drug Analogues: Identifies structurally similar approved drugs in market → accelerates lead selection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06624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96896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🔄  Repurposing Suggestions: Finds existing drugs that might work for new disease targets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64991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55263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⚠  Risk Narratives: Translates toxicity flags into plain English for interdisciplinary teams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59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1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🛡  Graceful Fallback: If API unavailable, ChemoFilter continues working — AI layer is optional enhancement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81727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71999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🔒  Privacy: Only non-proprietary structural fragments sent to API — full SMILES never transmitted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64592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228600" cy="1645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Arial"/>
              </a:rPr>
              <a:t>Slide Set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889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CD4"/>
                </a:solidFill>
                <a:latin typeface="Arial"/>
              </a:rPr>
              <a:t>What Makes ChemoFilter Unique</a:t>
            </a: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C8D2E6"/>
                </a:solidFill>
                <a:latin typeface="Arial"/>
              </a:rPr>
              <a:t>Comparing to traditional workflows and existing tools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ChemoFilter vs Traditional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Why the unified approach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07008"/>
            <a:ext cx="5577840" cy="3657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161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42D"/>
                </a:solidFill>
                <a:latin typeface="Arial"/>
              </a:rPr>
              <a:t>Traditional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07008"/>
            <a:ext cx="557784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161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42D"/>
                </a:solidFill>
                <a:latin typeface="Arial"/>
              </a:rPr>
              <a:t>ChemoFilter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664208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700784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❌  10+ separate tools (PAINS server,
    LogP calc, TPSA tool, 3D viewer …)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64208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00784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✅  Single unified web application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286000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322576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❌  Manual copy-paste between tools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286000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322576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✅  Automated pipeline, zero manual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907792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944368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❌  Days to screen 100 compounds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907792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944368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✅  Minutes to screen 1,000+ compounds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529584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566160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❌  Results in different file formats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529584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566160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✅  Unified CSV / JSON export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151376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187952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❌  No unified scoring system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151376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187952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✅  ChemoScore grade (A/B/C/F)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773168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809744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❌  No AI explanation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773168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809744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✅  Claude AI plain-language summary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5394960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5431536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❌  Requires expert chemist to interpret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394960"/>
            <a:ext cx="5577840" cy="566928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431536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✅  Accessible to entire research team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64592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228600" cy="1645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Arial"/>
              </a:rPr>
              <a:t>Slide Set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889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CD4"/>
                </a:solidFill>
                <a:latin typeface="Arial"/>
              </a:rPr>
              <a:t>Future Scope &amp; Roadmap</a:t>
            </a: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C8D2E6"/>
                </a:solidFill>
                <a:latin typeface="Arial"/>
              </a:rPr>
              <a:t>Planned enhancements to extend ChemoFilter's capabilities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Future Scope — Phase 1 (Near Term)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Extensions within the current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89888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🧬  Machine Learning ADMET Models — trained on ChEMBL/BindingDB bioactivity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48256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🏗  3D Protein Docking Simulation — predict binding pose at target active site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06624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96896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🔗  DrugBank &amp; PubChem API Integration — cross-reference 100M+ real compounds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64991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55263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📐  Retrosynthesis Analysis — suggest optimal synthetic route to the target molecule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59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1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📊  Interactive Property Heatmaps — visual comparison across entire screening library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81727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71999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⚗  Experimental Data Upload — connect physical lab assay results back into platform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Future Scope — Phase 2 (Long Term)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Advanced research and regulatory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89888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🧠  Explainable AI (XAI) — show WHY each prediction was made, not just what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48256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🎯  Multi-Target Screening — efficacy + safety across multiple disease targets simultaneously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06624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96896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👥  Team Collaboration — shared lab notebooks, annotation, project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64991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55263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🏛  FDA Regulatory Compliance Checker — automatic ICH guideline assessment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59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1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⚖  Patent Similarity Analysis — avoid infringing existing IP before synthesis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81727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71999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🌍  Personalised Toxicity Profiles — account for ethnic/genetic CYP450 polymorphisms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40095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230367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🔬  IoT Lab Connectivity — link to HPLC, mass spectrometry instruments in real time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64592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228600" cy="1645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Arial"/>
              </a:rPr>
              <a:t>Slide Set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889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CD4"/>
                </a:solidFill>
                <a:latin typeface="Arial"/>
              </a:rPr>
              <a:t>Scientific References</a:t>
            </a: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C8D2E6"/>
                </a:solidFill>
                <a:latin typeface="Arial"/>
              </a:rPr>
              <a:t>Peer-reviewed literature underpinning ChemoFilter's algorithms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Arial"/>
              </a:rPr>
              <a:t>Key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AF37"/>
                </a:solidFill>
                <a:latin typeface="Arial"/>
              </a:rPr>
              <a:t>Scientific basis of ChemoFilter's rules and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16128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89888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2E6"/>
                </a:solidFill>
                <a:latin typeface="Arial"/>
              </a:rPr>
              <a:t>Lipinski CA et al. (1997). Experimental and computational approaches to estimate solubility and permeability. Adv. Drug Deliv. Rev. 23, 3–25.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48256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2E6"/>
                </a:solidFill>
                <a:latin typeface="Arial"/>
              </a:rPr>
              <a:t>Baell JB &amp; Holloway GA (2010). New substructure filters for removal of PAINS from screening libraries. J. Med. Chem. 53, 2719–2740.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06624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96896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2E6"/>
                </a:solidFill>
                <a:latin typeface="Arial"/>
              </a:rPr>
              <a:t>Brenk R et al. (2008). Lessons learned from assembling screening libraries for drug discovery. ChemMedChem 3, 435–444.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64991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55263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2E6"/>
                </a:solidFill>
                <a:latin typeface="Arial"/>
              </a:rPr>
              <a:t>Muegge I (2003). Selection criteria for drug-like compounds. Med. Res. Rev. 23, 302–321.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59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1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2E6"/>
                </a:solidFill>
                <a:latin typeface="Arial"/>
              </a:rPr>
              <a:t>Ertl P &amp; Schuffenhauer A (2009). Estimation of synthetic accessibility score of drug-like molecules. J. Cheminformatics 1, 8.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81727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71999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2E6"/>
                </a:solidFill>
                <a:latin typeface="Arial"/>
              </a:rPr>
              <a:t>Bemis GW &amp; Murcko MA (1996). The properties of known drugs. J. Med. Chem. 39, 2887–2893.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40095"/>
            <a:ext cx="1371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230367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2E6"/>
                </a:solidFill>
                <a:latin typeface="Arial"/>
              </a:rPr>
              <a:t>RDKit: Open-source cheminformatics. https://www.rdkit.org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BCD4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D4AF37"/>
                </a:solidFill>
                <a:latin typeface="Arial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D2E6"/>
                </a:solidFill>
                <a:latin typeface="Arial"/>
              </a:rPr>
              <a:t>ChemoFilter | Chemistry Department Panel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