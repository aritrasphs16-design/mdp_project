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7315200" cy="73152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4572000" cy="4572000"/>
          </a:xfrm>
          <a:prstGeom prst="ellipse">
            <a:avLst/>
          </a:prstGeom>
          <a:solidFill>
            <a:srgbClr val="F0A020">
              <a:alpha val="3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57200"/>
            <a:ext cx="6858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48000" dirty="0"/>
          </a:p>
        </p:txBody>
      </p:sp>
      <p:sp>
        <p:nvSpPr>
          <p:cNvPr id="56" name="Shape 54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solidFill>
            <a:srgbClr val="00D2BE">
              <a:alpha val="16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MDP 2026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solidFill>
            <a:srgbClr val="F0A020">
              <a:alpha val="16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V1,000,000 · OMNIPOTENT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solidFill>
            <a:srgbClr val="9B6FF0">
              <a:alpha val="16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· RDKIT · STREAMLIT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6032" y="1005840"/>
            <a:ext cx="64008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</a:t>
            </a:r>
            <a:endParaRPr lang="en-US" sz="9000" dirty="0"/>
          </a:p>
        </p:txBody>
      </p:sp>
      <p:sp>
        <p:nvSpPr>
          <p:cNvPr id="63" name="Text 61"/>
          <p:cNvSpPr/>
          <p:nvPr/>
        </p:nvSpPr>
        <p:spPr>
          <a:xfrm>
            <a:off x="256032" y="2560320"/>
            <a:ext cx="68580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i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9000" dirty="0"/>
          </a:p>
        </p:txBody>
      </p:sp>
      <p:sp>
        <p:nvSpPr>
          <p:cNvPr id="64" name="Text 62"/>
          <p:cNvSpPr/>
          <p:nvPr/>
        </p:nvSpPr>
        <p:spPr>
          <a:xfrm>
            <a:off x="256032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· Crystalline Edition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56032" y="4892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21-parameter ADMET intelligence powered by RDKit, Claude AI,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world's most sophisticated molecular scoring engines.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3524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89520" y="1097280"/>
            <a:ext cx="201168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1097280"/>
            <a:ext cx="201168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132588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4800" dirty="0"/>
          </a:p>
        </p:txBody>
      </p:sp>
      <p:sp>
        <p:nvSpPr>
          <p:cNvPr id="71" name="Shape 69"/>
          <p:cNvSpPr/>
          <p:nvPr/>
        </p:nvSpPr>
        <p:spPr>
          <a:xfrm>
            <a:off x="7772400" y="2377440"/>
            <a:ext cx="16459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PARAMETERS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78408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3836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738360" y="1097280"/>
            <a:ext cx="20116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38360" y="1097280"/>
            <a:ext cx="20116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132588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800" dirty="0"/>
          </a:p>
        </p:txBody>
      </p:sp>
      <p:sp>
        <p:nvSpPr>
          <p:cNvPr id="78" name="Shape 76"/>
          <p:cNvSpPr/>
          <p:nvPr/>
        </p:nvSpPr>
        <p:spPr>
          <a:xfrm>
            <a:off x="9921240" y="2377440"/>
            <a:ext cx="16459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FDA DRUG ANCHORS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63524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8952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589520" y="3429000"/>
            <a:ext cx="201168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3429000"/>
            <a:ext cx="201168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0" y="365760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85" name="Shape 83"/>
          <p:cNvSpPr/>
          <p:nvPr/>
        </p:nvSpPr>
        <p:spPr>
          <a:xfrm>
            <a:off x="7772400" y="4709160"/>
            <a:ext cx="16459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8952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78408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3836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738360" y="3429000"/>
            <a:ext cx="201168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38360" y="3429000"/>
            <a:ext cx="201168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38360" y="365760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4800" dirty="0"/>
          </a:p>
        </p:txBody>
      </p:sp>
      <p:sp>
        <p:nvSpPr>
          <p:cNvPr id="92" name="Shape 90"/>
          <p:cNvSpPr/>
          <p:nvPr/>
        </p:nvSpPr>
        <p:spPr>
          <a:xfrm>
            <a:off x="9921240" y="4709160"/>
            <a:ext cx="16459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3836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0" y="6473952"/>
            <a:ext cx="12161520" cy="2286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Computational Drug Discovery Platform  ·  46 Python Modules  ·  9 Analysis Engines  ·  3 AI-Powered Floating Panels  ·  202 Scientific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· VIT MDP 2026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02920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02920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029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029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261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CHEMOFILTER?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1536192"/>
            <a:ext cx="457200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664208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16459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computational drug discovery platform built with Streamlit for the VIT Chennai Management Development Program 2026.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688336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267004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comprehensive ADMET analysis on compounds using their SMILES molecular notation — covering Absorption, Distribution, Metabolism, Excretion and Toxicity.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369417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scalable engine tiers from a 21-parameter Vanguard Core up to a 100,000+ feature Aether Primality engine with AI-powered explanations via Claude.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736592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4718304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Streamlit Cloud — zero installation, no login required. Paste a SMILES string and get pharmaceutical-grade screening in seconds.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23560" y="1179576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115568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1115568"/>
            <a:ext cx="626364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1115568"/>
            <a:ext cx="626364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2432" y="1316736"/>
            <a:ext cx="658368" cy="658368"/>
          </a:xfrm>
          <a:prstGeom prst="ellipse">
            <a:avLst/>
          </a:prstGeom>
          <a:solidFill>
            <a:srgbClr val="00D2BE">
              <a:alpha val="18000"/>
            </a:srgbClr>
          </a:solidFill>
          <a:ln w="1016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42432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65392" y="1207008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ADMET Parameters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65392" y="1591056"/>
            <a:ext cx="493776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64592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 · BOILED-EGG · QED · SA Score · CNS MPO · ESOL · CYP ×5 · hERG · PAINS · Ames · Tanimoto Similarity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2532888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2468880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2468880"/>
            <a:ext cx="626364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2468880"/>
            <a:ext cx="626364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2670048"/>
            <a:ext cx="658368" cy="658368"/>
          </a:xfrm>
          <a:prstGeom prst="ellipse">
            <a:avLst/>
          </a:prstGeom>
          <a:solidFill>
            <a:srgbClr val="F0A020">
              <a:alpha val="18000"/>
            </a:srgbClr>
          </a:solidFill>
          <a:ln w="1016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742432" y="2670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65392" y="2560320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 Explainer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565392" y="2944368"/>
            <a:ext cx="493776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29992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generates plain-language interpretation of all molecular data, safety flags, and structural improvement suggestions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23560" y="3886200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3822192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77840" y="3822192"/>
            <a:ext cx="626364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822192"/>
            <a:ext cx="626364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2432" y="4023360"/>
            <a:ext cx="658368" cy="658368"/>
          </a:xfrm>
          <a:prstGeom prst="ellipse">
            <a:avLst/>
          </a:prstGeom>
          <a:solidFill>
            <a:srgbClr val="22D88A">
              <a:alpha val="18000"/>
            </a:srgbClr>
          </a:solidFill>
          <a:ln w="1016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742432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565392" y="3913632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Engine Tiers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565392" y="4297680"/>
            <a:ext cx="493776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435254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Core → T9 Aether v10000. From 21 parameters to 100,000+ feature tensors. Scalable depth on demand.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23560" y="5239512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77840" y="5175504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77840" y="5175504"/>
            <a:ext cx="626364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5175504"/>
            <a:ext cx="626364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42432" y="5376672"/>
            <a:ext cx="658368" cy="658368"/>
          </a:xfrm>
          <a:prstGeom prst="ellipse">
            <a:avLst/>
          </a:prstGeom>
          <a:solidFill>
            <a:srgbClr val="9B6FF0">
              <a:alpha val="18000"/>
            </a:srgbClr>
          </a:solidFill>
          <a:ln w="1016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742432" y="5376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565392" y="5266944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Reports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6565392" y="5650992"/>
            <a:ext cx="493776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65392" y="570585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HTML · TXT reports. 202 scientific references appended. Professional printable layouts. Calculator &amp; Editor exports.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Structure &amp; Architecture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PYTHON MODULES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16636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16636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16636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16636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115568"/>
            <a:ext cx="5166360" cy="43891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2618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126187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12618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/ project root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162763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ChemoFilter/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186994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749040" y="18882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D2B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POINT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5488" y="211226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landing.py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749040" y="2130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SPLASH PAGE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5488" y="235458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dashboard.py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749040" y="23728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LAYER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5488" y="259689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chemofilter_dashboard.py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7490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CSS/LAYOUT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5488" y="283921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chemo_filters.py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749040" y="28575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ADMET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5488" y="308152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chemo_scoring.py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749040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SCORES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5488" y="332384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chemo_batch.py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749040" y="33421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PROCESS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5488" y="356616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chemo_io.py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74904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488" y="380847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chemo_ui_components.py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749040" y="38267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488" y="405079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ai_explainer_tab.py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74904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AI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488" y="429310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api_manager.py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749040" y="43113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5488" y="453542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api_registry.py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749040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488" y="477774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cache_manager.py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749040" y="47960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CACHE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75488" y="502005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engine_orchestrator.py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374904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5488" y="526237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engine_selector.py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749040" y="52806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PICKER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75488" y="550468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[9 engine modules]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749040" y="5522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→ T9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5488" y="574700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.streamlit/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749040" y="57652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A505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733288" y="1179576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87568" y="1115568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87568" y="1115568"/>
            <a:ext cx="6172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87568" y="1115568"/>
            <a:ext cx="6172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044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&amp; UI LAYER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870448" y="1481328"/>
            <a:ext cx="57607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0448" y="1554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05472" y="15544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point. Page config, routing, CSS/JS injection (~2000 lines), FAB bar panels, session state management.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5870448" y="18379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05472" y="18379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 Noir splash page — animated orbs, grid overlay, scan-line, hero section, 16 feature chips, engine cards.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5870448" y="21214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05472" y="212140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analytics tab, debug mode toggle, execution log, routing explainer visualization.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5733288" y="2532888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87568" y="2468880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87568" y="2468880"/>
            <a:ext cx="617220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87568" y="2468880"/>
            <a:ext cx="617220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70448" y="2560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CHEMISTRY ENGINE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870448" y="2834640"/>
            <a:ext cx="57607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0448" y="29077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chemo_filters.py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05472" y="2907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ADMET filters — Lipinski, Ghose, Veber, Egan, Muegge, PAINS, hERG, CYP ×5, Ames, ECFP4 fingerprints.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5870448" y="31912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205472" y="319125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 formula (0–100) with grade S+ to F. 7 weighted components. Oral Bio, CNS MPO, NP-Score.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5870448" y="34747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05472" y="347472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processing, Butina clustering, Murcko scaffold analysis, Tanimoto similarity matrix.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5733288" y="3886200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87568" y="3822192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687568" y="3822192"/>
            <a:ext cx="617220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87568" y="3822192"/>
            <a:ext cx="617220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0448" y="3913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API INTEGRATION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870448" y="4187952"/>
            <a:ext cx="57607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70448" y="4261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ai_explainer_tab.py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205472" y="42611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tab — _build_prompt() constructs structured ADMET prompt. Graceful offline fallback if no API key.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5870448" y="45445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api_manager.py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205472" y="454456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 layer with 24h TTL cache, hard timeout, offline fallback. _ok()/_fail() response format.</a:t>
            </a:r>
            <a:endParaRPr lang="en-US" sz="820" dirty="0"/>
          </a:p>
        </p:txBody>
      </p:sp>
      <p:sp>
        <p:nvSpPr>
          <p:cNvPr id="89" name="Text 87"/>
          <p:cNvSpPr/>
          <p:nvPr/>
        </p:nvSpPr>
        <p:spPr>
          <a:xfrm>
            <a:off x="5870448" y="482803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api_registry.py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05472" y="482803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REST · ChEMBL · UniProt · DrugBank · OpenTargets · SwissTargetPrediction endpoint registry.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5733288" y="5239512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87568" y="5175504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687568" y="5175504"/>
            <a:ext cx="617220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87568" y="5175504"/>
            <a:ext cx="617220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70448" y="52669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ARCHITECTURE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870448" y="5541264"/>
            <a:ext cx="57607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70448" y="56144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205472" y="561441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SMILES to selected tier module. Standard analyze(mol, smiles) → property dict interface.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5870448" y="58978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engine modules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205472" y="58978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→ T1 Features → T2 Mega → T3 Hyper → T5 Nova → T6 Omega → T7 Celestial → T8 Xenon → T9 Aether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5870448" y="61813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performance_monitor.py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205472" y="61813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instrumentation, memory profiling, perf_layer.py execution tracking across all engine tiers.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ADMET Engine — chemo_filters.py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· 21+ PARAMETERS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76148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76148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761488" cy="475488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💊  Drug-Likeness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MW&lt;500, LogP&lt;5, HBD≤5, HBA≤10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Ghose Filter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160–480, LogP -0.4–5.6, MR 40–130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Veber Rule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RotBonds≤10, tPSA≤140 for oral abs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2336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Egan Rule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tPSA≤131.6, AlogP98≤5.88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Muegge Filter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200–600, 7 parameter check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2336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Oprea Lead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2336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 property bounds (MW&lt;460)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Macrocycle &amp; PPI oral space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2336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3/75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LogP&lt;3, tPSA&gt;75 for low tox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4/400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LogP&lt;4, MW&lt;400 selectivity rule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46120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1097280"/>
            <a:ext cx="276148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1097280"/>
            <a:ext cx="276148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1097280"/>
            <a:ext cx="2761488" cy="475488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🧬  ADME Properties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55264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10128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Intestinal Absorption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10128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10128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Blood-Brain Barrier penetration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55264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10128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Topol. Polar Surface Area (&lt;90Å²)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10128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ESOL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10128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Delaney aqueous solubility model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55264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0128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 Caco-2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10128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GI permeability nm/s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10128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Bioavail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310128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fraction estimate (%)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55264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0128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LogBB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0128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log brain:blood ratio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310128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10128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pre-systemic reduction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55264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/ Ioniz.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10128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 ionization state (H-H)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53912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08192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06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08192" y="1097280"/>
            <a:ext cx="2761488" cy="41148"/>
          </a:xfrm>
          <a:prstGeom prst="rect">
            <a:avLst/>
          </a:prstGeom>
          <a:solidFill>
            <a:srgbClr val="FF4060">
              <a:alpha val="80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08192" y="1097280"/>
            <a:ext cx="2761488" cy="365760"/>
          </a:xfrm>
          <a:prstGeom prst="rect">
            <a:avLst/>
          </a:prstGeom>
          <a:solidFill>
            <a:srgbClr val="FF4060">
              <a:alpha val="6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08192" y="1097280"/>
            <a:ext cx="2761488" cy="475488"/>
          </a:xfrm>
          <a:prstGeom prst="rect">
            <a:avLst/>
          </a:prstGeom>
          <a:solidFill>
            <a:srgbClr val="FF4060">
              <a:alpha val="1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Safety &amp; Toxicology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63056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Risk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QT prolongation (Sanguinetti)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217920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Test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217920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Mutagenicity structural alerts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163056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Filter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217920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Pan-Assay Interference (Baell 2010)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217920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Genotoxicity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217920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damage structural alerts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163056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CYP1A2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217920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amine substrate flags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217920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CYP2C9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217920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Acidic drug / NSAID DDI risk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63056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CYP2C19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217920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Imidazole / PPI polymorphic enzyme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17920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CYP2D6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217920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 + aromatic — 25% of drugs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163056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17920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all marketed drugs metabolized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061704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15984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9015984" y="1097280"/>
            <a:ext cx="276148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15984" y="1097280"/>
            <a:ext cx="276148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15984" y="1097280"/>
            <a:ext cx="2761488" cy="475488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07424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Molecular Properties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070848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25712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/ LogP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9125712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 &amp; lipophilicity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9125712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 / HBA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125712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donor &amp; acceptor counts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070848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125712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 / Rings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125712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ring system count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9125712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125712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Drug-Likeness 0–1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9070848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12571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9125712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Accessibility 1–10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9125712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Fsp3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9125712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sp3 carbons (3D character)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070848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25712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Score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9125712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Product-Likeness -5 to +5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9125712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9125712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fingerprints radius=2, 2048-bit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070848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25712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9125712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structure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9B6FF0">
              <a:alpha val="5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9B6FF0">
              <a:alpha val="20000"/>
            </a:srgbClr>
          </a:solidFill>
          <a:ln w="1270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6FF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Scoring System — ChemoScore™ v1.0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solidFill>
            <a:srgbClr val="9B6FF0">
              <a:alpha val="15000"/>
            </a:srgbClr>
          </a:solidFill>
          <a:ln w="10160">
            <a:solidFill>
              <a:srgbClr val="9B6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246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246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24612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24612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SCALE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508760"/>
            <a:ext cx="292608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3677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36776"/>
            <a:ext cx="2560320" cy="475488"/>
          </a:xfrm>
          <a:prstGeom prst="rect">
            <a:avLst/>
          </a:prstGeom>
          <a:solidFill>
            <a:srgbClr val="00FFEE">
              <a:alpha val="28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solidFill>
            <a:srgbClr val="00FFEE">
              <a:alpha val="55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FFE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1636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90–100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— rare hit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29514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295144"/>
            <a:ext cx="2304288" cy="475488"/>
          </a:xfrm>
          <a:prstGeom prst="rect">
            <a:avLst/>
          </a:prstGeom>
          <a:solidFill>
            <a:srgbClr val="00D2BE">
              <a:alpha val="2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solidFill>
            <a:srgbClr val="00D2BE">
              <a:alpha val="5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2295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80–89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2532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candidate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953512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53512"/>
            <a:ext cx="2048256" cy="475488"/>
          </a:xfrm>
          <a:prstGeom prst="rect">
            <a:avLst/>
          </a:prstGeom>
          <a:solidFill>
            <a:srgbClr val="22D88A">
              <a:alpha val="2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solidFill>
            <a:srgbClr val="22D88A">
              <a:alpha val="55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" y="29535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70–79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3191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ADMET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11880"/>
            <a:ext cx="1792224" cy="475488"/>
          </a:xfrm>
          <a:prstGeom prst="rect">
            <a:avLst/>
          </a:prstGeom>
          <a:solidFill>
            <a:srgbClr val="90D8A8">
              <a:alpha val="28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solidFill>
            <a:srgbClr val="90D8A8">
              <a:alpha val="55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0D8A8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611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60–69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88" y="3849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minor optimization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70248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70248"/>
            <a:ext cx="1536192" cy="475488"/>
          </a:xfrm>
          <a:prstGeom prst="rect">
            <a:avLst/>
          </a:prstGeom>
          <a:solidFill>
            <a:srgbClr val="F0A020">
              <a:alpha val="2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solidFill>
            <a:srgbClr val="F0A020">
              <a:alpha val="55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32688" y="42702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" y="4507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flag concerns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92861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928616"/>
            <a:ext cx="1152144" cy="475488"/>
          </a:xfrm>
          <a:prstGeom prst="rect">
            <a:avLst/>
          </a:prstGeom>
          <a:solidFill>
            <a:srgbClr val="E08040">
              <a:alpha val="28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solidFill>
            <a:srgbClr val="E08040">
              <a:alpha val="55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E0804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88" y="49286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8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" y="5166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— major issues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558698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586984"/>
            <a:ext cx="768096" cy="475488"/>
          </a:xfrm>
          <a:prstGeom prst="rect">
            <a:avLst/>
          </a:prstGeom>
          <a:solidFill>
            <a:srgbClr val="FF4060">
              <a:alpha val="2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solidFill>
            <a:srgbClr val="FF4060">
              <a:alpha val="55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32688" y="5586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2688" y="5824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reject compound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94760" y="1161288"/>
            <a:ext cx="452628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0" y="1097280"/>
            <a:ext cx="452628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49040" y="1097280"/>
            <a:ext cx="45262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0" y="1097280"/>
            <a:ext cx="45262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0208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FORMULA WEIGHTS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950208" y="1508760"/>
            <a:ext cx="411480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67328" y="163677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67328" y="1636776"/>
            <a:ext cx="3291840" cy="493776"/>
          </a:xfrm>
          <a:prstGeom prst="rect">
            <a:avLst/>
          </a:prstGeom>
          <a:solidFill>
            <a:srgbClr val="FF4060">
              <a:alpha val="22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solidFill>
            <a:srgbClr val="FF4060">
              <a:alpha val="3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58768" y="1636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Panel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5876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+ Ames + PAINS composite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67328" y="229514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67328" y="2295144"/>
            <a:ext cx="3291840" cy="493776"/>
          </a:xfrm>
          <a:prstGeom prst="rect">
            <a:avLst/>
          </a:prstGeom>
          <a:solidFill>
            <a:srgbClr val="38C8FF">
              <a:alpha val="22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solidFill>
            <a:srgbClr val="38C8FF">
              <a:alpha val="3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58768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Panel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858768" y="25328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+ BBB + Caco-2 + Solubility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67328" y="2953512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67328" y="2953512"/>
            <a:ext cx="2468880" cy="493776"/>
          </a:xfrm>
          <a:prstGeom prst="rect">
            <a:avLst/>
          </a:prstGeom>
          <a:solidFill>
            <a:srgbClr val="00D2BE">
              <a:alpha val="22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solidFill>
            <a:srgbClr val="00D2BE">
              <a:alpha val="3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858768" y="2953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858768" y="31912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pass=15, 1 viol=8, 2+ viol=0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67328" y="3611880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67328" y="3611880"/>
            <a:ext cx="2468880" cy="493776"/>
          </a:xfrm>
          <a:prstGeom prst="rect">
            <a:avLst/>
          </a:prstGeom>
          <a:solidFill>
            <a:srgbClr val="00F5E0">
              <a:alpha val="22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solidFill>
            <a:srgbClr val="00F5E0">
              <a:alpha val="30000"/>
            </a:srgbClr>
          </a:solidFill>
          <a:ln w="8890">
            <a:solidFill>
              <a:srgbClr val="00F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858768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858768" y="3849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× 15 (0–1 scale)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767328" y="4270248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67328" y="4270248"/>
            <a:ext cx="1645920" cy="493776"/>
          </a:xfrm>
          <a:prstGeom prst="rect">
            <a:avLst/>
          </a:prstGeom>
          <a:solidFill>
            <a:srgbClr val="22D88A">
              <a:alpha val="22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solidFill>
            <a:srgbClr val="22D88A">
              <a:alpha val="3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858768" y="42702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858768" y="4507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Synthesizability 1–10 → points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67328" y="492861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67328" y="4928616"/>
            <a:ext cx="1645920" cy="493776"/>
          </a:xfrm>
          <a:prstGeom prst="rect">
            <a:avLst/>
          </a:prstGeom>
          <a:solidFill>
            <a:srgbClr val="FFB830">
              <a:alpha val="22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solidFill>
            <a:srgbClr val="FFB830">
              <a:alpha val="30000"/>
            </a:srgbClr>
          </a:solidFill>
          <a:ln w="8890">
            <a:solidFill>
              <a:srgbClr val="FFB8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858768" y="49286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Lead-Likeness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58768" y="5166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MW/LogP/HBD/HBA bounds check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767328" y="558698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67328" y="5586984"/>
            <a:ext cx="1645920" cy="493776"/>
          </a:xfrm>
          <a:prstGeom prst="rect">
            <a:avLst/>
          </a:prstGeom>
          <a:solidFill>
            <a:srgbClr val="B890FF">
              <a:alpha val="22000"/>
            </a:srgbClr>
          </a:solidFill>
          <a:ln w="12700">
            <a:solidFill>
              <a:srgbClr val="B890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solidFill>
            <a:srgbClr val="B890FF">
              <a:alpha val="30000"/>
            </a:srgbClr>
          </a:solidFill>
          <a:ln w="8890">
            <a:solidFill>
              <a:srgbClr val="B890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858768" y="55869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 Safety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3858768" y="5824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5-enzyme panel inhibition score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8531352" y="1161288"/>
            <a:ext cx="3401568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85632" y="1097280"/>
            <a:ext cx="3401568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485632" y="1097280"/>
            <a:ext cx="340156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85632" y="1097280"/>
            <a:ext cx="340156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668512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SCORES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8668512" y="1508760"/>
            <a:ext cx="3063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03920" y="163677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03920" y="1636776"/>
            <a:ext cx="36576" cy="4937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31936" y="16367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solidFill>
            <a:srgbClr val="00D2BE">
              <a:alpha val="2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631936" y="1874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composite — all ADMET, QED, SA, Lipinski, hERG, PAINS integrated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8503920" y="229514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03920" y="2295144"/>
            <a:ext cx="36576" cy="4937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31936" y="2295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 Score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solidFill>
            <a:srgbClr val="22D88A">
              <a:alpha val="2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0–100%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631936" y="2532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oral bioavailability from HIA, Caco-2, tPSA, MW, RotBonds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8503920" y="2953512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03920" y="2953512"/>
            <a:ext cx="36576" cy="493776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31936" y="2953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MPO Score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solidFill>
            <a:srgbClr val="38C8FF">
              <a:alpha val="2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631936" y="3191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Wager 2010 multiparameter CNS optimization — LogP, tPSA, MW, pKa, HBD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8503920" y="3611880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03920" y="3611880"/>
            <a:ext cx="36576" cy="4937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631936" y="3611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NP-Likeness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solidFill>
            <a:srgbClr val="F0A020">
              <a:alpha val="20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 to +5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631936" y="38496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Ertl 2008 Natural Product score. Higher = more NP-like structural space</a:t>
            </a:r>
            <a:endParaRPr lang="en-US" sz="780" dirty="0"/>
          </a:p>
        </p:txBody>
      </p:sp>
      <p:sp>
        <p:nvSpPr>
          <p:cNvPr id="137" name="Shape 135"/>
          <p:cNvSpPr/>
          <p:nvPr/>
        </p:nvSpPr>
        <p:spPr>
          <a:xfrm>
            <a:off x="8503920" y="4270248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03920" y="4270248"/>
            <a:ext cx="36576" cy="493776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631936" y="4270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Promiscuity Risk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solidFill>
            <a:srgbClr val="FF4060">
              <a:alpha val="2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Low/High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8631936" y="4507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Non-specific multi-target binding risk from reactive groups + flexibility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8503920" y="492861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03920" y="4928616"/>
            <a:ext cx="36576" cy="4937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631936" y="4928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solidFill>
            <a:srgbClr val="9B6FF0">
              <a:alpha val="20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8631936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Bertz-inspired: rings + stereocenters + bridgeheads + spiro atoms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8503920" y="558698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03920" y="5586984"/>
            <a:ext cx="36576" cy="493776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31936" y="5586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solidFill>
            <a:srgbClr val="FF4D8F">
              <a:alpha val="20000"/>
            </a:srgbClr>
          </a:solidFill>
          <a:ln w="8890">
            <a:solidFill>
              <a:srgbClr val="FF4D8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631936" y="5824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pharmacological stress: toxicity + instability + complexity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9B6FF0">
              <a:alpha val="5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9-Tier Analysis Engine Architecture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608" y="1097280"/>
            <a:ext cx="54864" cy="1847088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solidFill>
            <a:srgbClr val="00D2BE">
              <a:alpha val="18000"/>
            </a:srgbClr>
          </a:solidFill>
          <a:ln w="7620">
            <a:solidFill>
              <a:srgbClr val="00D2B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21+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14400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 Core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1440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0D2B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NATIVE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29768" y="1719072"/>
            <a:ext cx="354787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21-param ADMET: Lipinski, BOILED-EGG, QED, SA Score, CNS MPO, ESOL, CYP×5, hERG, PAINS. Murcko scaffolds. MMFF94 3D.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297680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51960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C8A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251960" y="1097280"/>
            <a:ext cx="3822192" cy="41148"/>
          </a:xfrm>
          <a:prstGeom prst="rect">
            <a:avLst/>
          </a:prstGeom>
          <a:solidFill>
            <a:srgbClr val="00C8A0">
              <a:alpha val="80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51960" y="1097280"/>
            <a:ext cx="3822192" cy="365760"/>
          </a:xfrm>
          <a:prstGeom prst="rect">
            <a:avLst/>
          </a:prstGeom>
          <a:solidFill>
            <a:srgbClr val="00C8A0">
              <a:alpha val="6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1097280"/>
            <a:ext cx="54864" cy="184708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solidFill>
            <a:srgbClr val="00C8A0">
              <a:alpha val="28000"/>
            </a:srgbClr>
          </a:solidFill>
          <a:ln w="8890">
            <a:solidFill>
              <a:srgbClr val="00C8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solidFill>
            <a:srgbClr val="00C8A0">
              <a:alpha val="18000"/>
            </a:srgbClr>
          </a:solidFill>
          <a:ln w="7620">
            <a:solidFill>
              <a:srgbClr val="00C8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73752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C8A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v15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873752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0C8A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EXTENDED DESC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389120" y="1719072"/>
            <a:ext cx="3547872" cy="0"/>
          </a:xfrm>
          <a:prstGeom prst="line">
            <a:avLst/>
          </a:prstGeom>
          <a:noFill/>
          <a:ln w="6350">
            <a:solidFill>
              <a:srgbClr val="00C8A0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shape indices, chi connectivity, Wiener topological index, Hall-Kier descriptors, extended physicochemical panel.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57032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11312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8D87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11312" y="1097280"/>
            <a:ext cx="3822192" cy="41148"/>
          </a:xfrm>
          <a:prstGeom prst="rect">
            <a:avLst/>
          </a:prstGeom>
          <a:solidFill>
            <a:srgbClr val="28D870">
              <a:alpha val="80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11312" y="1097280"/>
            <a:ext cx="3822192" cy="365760"/>
          </a:xfrm>
          <a:prstGeom prst="rect">
            <a:avLst/>
          </a:prstGeom>
          <a:solidFill>
            <a:srgbClr val="28D870">
              <a:alpha val="6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11312" y="1097280"/>
            <a:ext cx="54864" cy="1847088"/>
          </a:xfrm>
          <a:prstGeom prst="rect">
            <a:avLst/>
          </a:prstGeom>
          <a:solidFill>
            <a:srgbClr val="28D870"/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solidFill>
            <a:srgbClr val="28D870">
              <a:alpha val="28000"/>
            </a:srgbClr>
          </a:solidFill>
          <a:ln w="8890">
            <a:solidFill>
              <a:srgbClr val="28D87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solidFill>
            <a:srgbClr val="28D870">
              <a:alpha val="18000"/>
            </a:srgbClr>
          </a:solidFill>
          <a:ln w="7620">
            <a:solidFill>
              <a:srgbClr val="28D87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833104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8D87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 Features v20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833104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28D87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 ENGINE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348472" y="1719072"/>
            <a:ext cx="3547872" cy="0"/>
          </a:xfrm>
          <a:prstGeom prst="line">
            <a:avLst/>
          </a:prstGeom>
          <a:noFill/>
          <a:ln w="6350">
            <a:solidFill>
              <a:srgbClr val="28D870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48472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new descriptors: topology, physicochemistry, elemental ratios, SAR intelligence, IP originality scoring, CNS MPO v2.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8328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608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292608" y="301752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2608" y="301752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3017520"/>
            <a:ext cx="54864" cy="1847088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solidFill>
            <a:srgbClr val="F0A020">
              <a:alpha val="28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500+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914400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Hyper-Zenith v50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914400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F0A02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TIER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429768" y="3639312"/>
            <a:ext cx="354787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9768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ADME: Caco-2, P-gp substrate alerts, skin LogKp, DILI risk, phospholipidosis index, metabolic half-life model.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297680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51960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605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4251960" y="3017520"/>
            <a:ext cx="3822192" cy="41148"/>
          </a:xfrm>
          <a:prstGeom prst="rect">
            <a:avLst/>
          </a:prstGeom>
          <a:solidFill>
            <a:srgbClr val="F06050">
              <a:alpha val="80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51960" y="3017520"/>
            <a:ext cx="3822192" cy="365760"/>
          </a:xfrm>
          <a:prstGeom prst="rect">
            <a:avLst/>
          </a:prstGeom>
          <a:solidFill>
            <a:srgbClr val="F06050">
              <a:alpha val="6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51960" y="3017520"/>
            <a:ext cx="54864" cy="1847088"/>
          </a:xfrm>
          <a:prstGeom prst="rect">
            <a:avLst/>
          </a:prstGeom>
          <a:solidFill>
            <a:srgbClr val="F06050"/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solidFill>
            <a:srgbClr val="F06050">
              <a:alpha val="28000"/>
            </a:srgbClr>
          </a:solidFill>
          <a:ln w="8890">
            <a:solidFill>
              <a:srgbClr val="F060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solidFill>
            <a:srgbClr val="F06050">
              <a:alpha val="18000"/>
            </a:srgbClr>
          </a:solidFill>
          <a:ln w="7620">
            <a:solidFill>
              <a:srgbClr val="F060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3000+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873752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605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 Engine v3000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4873752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F0605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ANALYSIS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4389120" y="3639312"/>
            <a:ext cx="3547872" cy="0"/>
          </a:xfrm>
          <a:prstGeom prst="line">
            <a:avLst/>
          </a:prstGeom>
          <a:noFill/>
          <a:ln w="6350">
            <a:solidFill>
              <a:srgbClr val="F06050">
                <a:alpha val="35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89120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structural alerts, retrosynthesis difficulty index, solubility models, protein binding predictors, metabolic soft-spots.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8257032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11312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A050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8211312" y="3017520"/>
            <a:ext cx="3822192" cy="41148"/>
          </a:xfrm>
          <a:prstGeom prst="rect">
            <a:avLst/>
          </a:prstGeom>
          <a:solidFill>
            <a:srgbClr val="A050F0">
              <a:alpha val="80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11312" y="3017520"/>
            <a:ext cx="3822192" cy="365760"/>
          </a:xfrm>
          <a:prstGeom prst="rect">
            <a:avLst/>
          </a:prstGeom>
          <a:solidFill>
            <a:srgbClr val="A050F0">
              <a:alpha val="6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11312" y="3017520"/>
            <a:ext cx="54864" cy="1847088"/>
          </a:xfrm>
          <a:prstGeom prst="rect">
            <a:avLst/>
          </a:prstGeom>
          <a:solidFill>
            <a:srgbClr val="A050F0"/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solidFill>
            <a:srgbClr val="A050F0">
              <a:alpha val="28000"/>
            </a:srgbClr>
          </a:solidFill>
          <a:ln w="8890">
            <a:solidFill>
              <a:srgbClr val="A050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solidFill>
            <a:srgbClr val="A050F0">
              <a:alpha val="18000"/>
            </a:srgbClr>
          </a:solidFill>
          <a:ln w="7620">
            <a:solidFill>
              <a:srgbClr val="A050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833104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A050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Omega Engine v2000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8833104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A050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MULTIVARIATE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8348472" y="3639312"/>
            <a:ext cx="3547872" cy="0"/>
          </a:xfrm>
          <a:prstGeom prst="line">
            <a:avLst/>
          </a:prstGeom>
          <a:noFill/>
          <a:ln w="6350">
            <a:solidFill>
              <a:srgbClr val="A050F0">
                <a:alpha val="3500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48472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selectivity fingerprints, ATC class prediction, scaffold diversity indices, ring system complexity analysis.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338328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92608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292608" y="493776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2608" y="493776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2608" y="4937760"/>
            <a:ext cx="54864" cy="1847088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solidFill>
            <a:srgbClr val="22D88A">
              <a:alpha val="28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914400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Celestial v1000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91440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22D88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 TIER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429768" y="5559552"/>
            <a:ext cx="354787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9768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PBPK: Ka, CLint, Kp tissue partitioning. Quantum electronic descriptors (QUED). Saagar hazard registry. SHAP.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297680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251960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4251960" y="493776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51960" y="493776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251960" y="4937760"/>
            <a:ext cx="54864" cy="1847088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solidFill>
            <a:srgbClr val="38C8FF">
              <a:alpha val="28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T8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50,000+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4873752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Xenon-God v5000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4873752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38C8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MULTIVERSE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4389120" y="5559552"/>
            <a:ext cx="354787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389120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orbital dynamics, hydration energies, epigenetic hazard scan, retrosynthetic difficulty (RDI), BBB flux velocity tags.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8257032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211312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8211312" y="4937760"/>
            <a:ext cx="38221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11312" y="4937760"/>
            <a:ext cx="38221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211312" y="4937760"/>
            <a:ext cx="54864" cy="1847088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solidFill>
            <a:srgbClr val="9B6FF0">
              <a:alpha val="28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T9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solidFill>
            <a:srgbClr val="9B6FF0">
              <a:alpha val="18000"/>
            </a:srgbClr>
          </a:solidFill>
          <a:ln w="7620">
            <a:solidFill>
              <a:srgbClr val="9B6F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100,000+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8833104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 Primality v10000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8833104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9B6F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GOD ENGINE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8348472" y="5559552"/>
            <a:ext cx="354787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348472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feature tensors. Tissue-specific PBPK, nanotoxicity, carbon footprint, quantum Aether motifs, pan-genomic analysis.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 &amp; API Integration Layer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· PUBCHEM · CHEMBL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532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532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53212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53212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532120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16636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Explainer Tab  —  ai_explainer_tab.py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1664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41  ·  Phase 3  ·  Anthropic claude-sonnet-4-20250514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" y="1965960"/>
            <a:ext cx="512064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848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2084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23408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st.secrets['ANTHROPIC_API_KEY'] or environment variable. Graceful fallback if unavailable — shows configuration card but never crashes.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30540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_build_prompt() composes structured prompts: SMILES + all computed properties (MW, LogP, QED, hERG, CYP flags, Grade, Lead Score) + 4 specific analysis questions.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35112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Explains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" y="37673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Plain-language drug-likeness interpretation  ② ADMET concern breakdown  ③ Structural improvement suggestions  ④ Comparison to known approved drugs in same class.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4224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Mechanics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44805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_call_claude() posts to /v1/messages. model=claude-sonnet-4-20250514. max_tokens=1000. Returns data.content[0].text. Error boundary → static fallback explanation.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937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51937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 rendered in a styled dark card with amber border. Copy-to-clipboard button. Word count displayed. Full response scrollable.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5650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" y="5650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Degradation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" y="59070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Anthropic API key: tab shows a setup guide card with instructions. All other 40 tabs function normally — zero dependency on AI key for core ADMET.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1161288"/>
            <a:ext cx="5833872" cy="26334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097280"/>
            <a:ext cx="5833872" cy="26334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1097280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1097280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097280"/>
            <a:ext cx="5833872" cy="457200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097280"/>
            <a:ext cx="5468112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API Manager  —  api_manager.py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9632" y="1627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Unified _ok() / _fail() response format across all APIs — consistent handling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199632" y="19019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Per-API st.cache_data with 24h TTL keyed by MD5 hash of SMILES string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199632" y="21762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8s timeout + silent graceful fallback — app works 100% offline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199632" y="2450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Session-state enabled/disabled flags track per-API tier activation status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199632" y="2724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 ordering: Core → Extended → AI — each tier optional, degradation is seamless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080760" y="3977640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913632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3913632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913632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9684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Core APIs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2153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PubChem REST: name, CID, synonyms, 2D structure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217920" y="43982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ChEMBL: bioactivity, target annotations, approval status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217920" y="45811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NIH CIR: IUPAC ↔ SMILES conversion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080760" y="4901184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837176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35040" y="4837176"/>
            <a:ext cx="583387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4837176"/>
            <a:ext cx="583387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892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Extended APIs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17920" y="5138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UniProt: protein target info &amp; pathway annotations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6217920" y="5321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OpenTargets: disease-target association scoring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217920" y="55046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SwissTargetPrediction: SMILES → target probability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080760" y="5824728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0" y="5760720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35040" y="5760720"/>
            <a:ext cx="583387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5760720"/>
            <a:ext cx="583387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58155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AI APIs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17920" y="6062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Claude: natural language ADMET explanations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217920" y="62453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Drug-repurposing via AI structural similarity analysis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6217920" y="64282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Fallback chain: all tiers optional, zero required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828800"/>
            <a:ext cx="4572000" cy="45720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Panels — 3 Embedded Mini-Applications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VIA CSS/JS · APP.PY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3822192" cy="502920"/>
          </a:xfrm>
          <a:prstGeom prst="rect">
            <a:avLst/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⊞  Scientific Calculator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88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FAB · bottom-right 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 × 700px · Draggable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Science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402336" y="2359152"/>
            <a:ext cx="3602736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" y="242316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Functions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trig (DEG/RAD mode), logarithms, exponents, factorial, nPr/nCr, memory M+/MC/MR/MS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02336" y="3099816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from kel, clearance, volume of distribution, bioavailability %, PPB ratio, dosing (mg/kg×BW)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02336" y="3776472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 Est.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 logS, estimated QED, LLE score, LogBB from MW, CNS(LogP), full CNS MPO 6-point score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02336" y="445312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Mean/Median/Mode/Geo/Harm/RMS, σ, Variance, SEM, IQR, Q1/Q3, Skewness, Kurtosis, CV%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02336" y="5129784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concentration (M→nM), temperature, volume, pressure, energy. 10 scientific constants.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02336" y="580644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Export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calculations stored. Export as TXT / CSV / JSON download with single click.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306824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61104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61104" y="109728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61104" y="109728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61104" y="1097280"/>
            <a:ext cx="3822192" cy="502920"/>
          </a:xfrm>
          <a:prstGeom prst="rect">
            <a:avLst/>
          </a:prstGeom>
          <a:solidFill>
            <a:srgbClr val="38C8FF">
              <a:alpha val="2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70832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✎  Document Editor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370832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C8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FAB · desktop-app UI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370832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 × 85vh · Full toolbar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4370832" y="2359152"/>
            <a:ext cx="3602736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0832" y="242316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9704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Engine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89704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Bold/Italic/Underline/Strike/Super/Subscript. Paragraph, H1–H4, Code Block, Blockquote.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4370832" y="3099816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9704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Control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489704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Georgia, JetBrains Mono, Arial, Times, Courier, Verdana. Font size 8–36pt. Text/highlight color.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4370832" y="3776472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9704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Templates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89704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Block, ADMET Summary Block, Table, Horizontal Rule, Current Date, Page Break.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4370832" y="4453128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9704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Live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489704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/ chars / lines / zoom % updated on every keystroke in status bar. Unsaved indicator.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4370832" y="51297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9704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489704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· HTML · Markdown · RTF · JSON. Print/PDF via browser Ctrl+P integration.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4370832" y="580644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89704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489704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highlight all occurrences with mark tags. Dark/light theme toggle. Spellcheck on/off.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8275320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0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29600" y="109728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29600" y="109728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600" y="1097280"/>
            <a:ext cx="3822192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39328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⬡  About &amp; Glossary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339328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A02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 FAB · searchable DB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339328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 · Live filter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CNS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AI/ML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8339328" y="2359152"/>
            <a:ext cx="3602736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39328" y="242316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458200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Terms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8458200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Drug-Likeness, ADME, Toxicology, Properties, Scoring, Metabolism, Fingerprints, CNS, AI/ML, FBDD.</a:t>
            </a:r>
            <a:endParaRPr lang="en-US" sz="820" dirty="0"/>
          </a:p>
        </p:txBody>
      </p:sp>
      <p:sp>
        <p:nvSpPr>
          <p:cNvPr id="113" name="Shape 111"/>
          <p:cNvSpPr/>
          <p:nvPr/>
        </p:nvSpPr>
        <p:spPr>
          <a:xfrm>
            <a:off x="8339328" y="3099816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58200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Stats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458200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bar: Total Terms / In ChemoFilter (✓ LIVE) / Planned (✗) / Coverage % calculated.</a:t>
            </a:r>
            <a:endParaRPr lang="en-US" sz="820" dirty="0"/>
          </a:p>
        </p:txBody>
      </p:sp>
      <p:sp>
        <p:nvSpPr>
          <p:cNvPr id="116" name="Shape 114"/>
          <p:cNvSpPr/>
          <p:nvPr/>
        </p:nvSpPr>
        <p:spPr>
          <a:xfrm>
            <a:off x="8339328" y="377647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58200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8458200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category pills — click to filter by ADME, Toxicology, CNS, Cheminformatics, Structural etc.</a:t>
            </a:r>
            <a:endParaRPr lang="en-US" sz="820" dirty="0"/>
          </a:p>
        </p:txBody>
      </p:sp>
      <p:sp>
        <p:nvSpPr>
          <p:cNvPr id="119" name="Shape 117"/>
          <p:cNvSpPr/>
          <p:nvPr/>
        </p:nvSpPr>
        <p:spPr>
          <a:xfrm>
            <a:off x="8339328" y="4453128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58200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458200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term name, description text, or category — filters on every keystroke instantly.</a:t>
            </a:r>
            <a:endParaRPr lang="en-US" sz="820" dirty="0"/>
          </a:p>
        </p:txBody>
      </p:sp>
      <p:sp>
        <p:nvSpPr>
          <p:cNvPr id="122" name="Shape 120"/>
          <p:cNvSpPr/>
          <p:nvPr/>
        </p:nvSpPr>
        <p:spPr>
          <a:xfrm>
            <a:off x="8339328" y="5129784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458200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Cards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458200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shows: name, scientific description, original paper citation, LIVE/PLANNED status badge.</a:t>
            </a:r>
            <a:endParaRPr lang="en-US" sz="820" dirty="0"/>
          </a:p>
        </p:txBody>
      </p:sp>
      <p:sp>
        <p:nvSpPr>
          <p:cNvPr id="125" name="Shape 123"/>
          <p:cNvSpPr/>
          <p:nvPr/>
        </p:nvSpPr>
        <p:spPr>
          <a:xfrm>
            <a:off x="8339328" y="580644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58200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58200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coverage rate at current build. Remaining terms flagged as roadmap items for future versions.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3657600"/>
            <a:ext cx="5486400" cy="54864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Data Flow &amp; User Journey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10-STEP PIPELINE · APP.PY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2179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7472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string or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upload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371600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7218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2646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426464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26464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55648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75564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81328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 Validate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517904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8132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parser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error card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05456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0604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56032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950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88950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615184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Select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65176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1518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T0–T9 tier picked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sidebar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3931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3989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9417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69417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9417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02336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749040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ADMET Compute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78561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4904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chemo_filters.py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properties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77316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7375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2803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828032" y="1115568"/>
            <a:ext cx="10789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28032" y="1115568"/>
            <a:ext cx="10789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57216" y="1225296"/>
            <a:ext cx="420624" cy="420624"/>
          </a:xfrm>
          <a:prstGeom prst="ellipse">
            <a:avLst/>
          </a:prstGeom>
          <a:solidFill>
            <a:srgbClr val="9B6FF0">
              <a:alpha val="28000"/>
            </a:srgbClr>
          </a:solidFill>
          <a:ln w="1143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515721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4882896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Engines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919472" y="2048256"/>
            <a:ext cx="89611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8289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selected tier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907024" y="2075688"/>
            <a:ext cx="54864" cy="0"/>
          </a:xfrm>
          <a:prstGeom prst="line">
            <a:avLst/>
          </a:prstGeom>
          <a:noFill/>
          <a:ln w="15240">
            <a:solidFill>
              <a:srgbClr val="9B6F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6188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5961888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61888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91072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629107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016752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053328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1675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chemo_scoring.py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040880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4146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9574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7095744" y="1115568"/>
            <a:ext cx="10789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095744" y="1115568"/>
            <a:ext cx="10789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24928" y="1225296"/>
            <a:ext cx="420624" cy="420624"/>
          </a:xfrm>
          <a:prstGeom prst="ellipse">
            <a:avLst/>
          </a:prstGeom>
          <a:solidFill>
            <a:srgbClr val="38C8FF">
              <a:alpha val="28000"/>
            </a:srgbClr>
          </a:solidFill>
          <a:ln w="11430">
            <a:solidFill>
              <a:srgbClr val="38C8FF"/>
            </a:solidFill>
            <a:prstDash val="solid"/>
          </a:ln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742492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7150608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Enrich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187184" y="2048256"/>
            <a:ext cx="89611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060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8174736" y="2075688"/>
            <a:ext cx="54864" cy="0"/>
          </a:xfrm>
          <a:prstGeom prst="line">
            <a:avLst/>
          </a:prstGeom>
          <a:noFill/>
          <a:ln w="15240">
            <a:solidFill>
              <a:srgbClr val="38C8FF">
                <a:alpha val="7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7532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2960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822960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2960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5878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855878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284464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32104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8446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key set)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30859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0917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6345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936345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6345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9264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969264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9418320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945489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41832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· QED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1044244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54303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49731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0497312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497312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826496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1082649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57" name="Text 155"/>
          <p:cNvSpPr/>
          <p:nvPr/>
        </p:nvSpPr>
        <p:spPr>
          <a:xfrm>
            <a:off x="10552176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0588752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55217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CSV/HTML/TXT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download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38328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92608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292608" y="3200400"/>
            <a:ext cx="285292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92608" y="3200400"/>
            <a:ext cx="285292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92608" y="3200400"/>
            <a:ext cx="2852928" cy="365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9768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429768" y="363931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29768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st.session_state.entered_app controls landing ↔ app routing. All results cached in session to prevent recomputation on every widget interaction.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9272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73552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70" name="Shape 168"/>
          <p:cNvSpPr/>
          <p:nvPr/>
        </p:nvSpPr>
        <p:spPr>
          <a:xfrm>
            <a:off x="3273552" y="3200400"/>
            <a:ext cx="285292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73552" y="3200400"/>
            <a:ext cx="285292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273552" y="3200400"/>
            <a:ext cx="285292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410712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CSS/JS Injection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3410712" y="363931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410712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injects ~2000 lines of custom CSS (Nova System Integration Patch) + pure-JS panel engine via st.markdown(unsafe_allow_html=True).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6300216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54496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78" name="Shape 176"/>
          <p:cNvSpPr/>
          <p:nvPr/>
        </p:nvSpPr>
        <p:spPr>
          <a:xfrm>
            <a:off x="6254496" y="3200400"/>
            <a:ext cx="285292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54496" y="3200400"/>
            <a:ext cx="285292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54496" y="3200400"/>
            <a:ext cx="2852928" cy="365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391656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Routing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6391656" y="363931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391656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engine_orchestrator.py maps tier selection to module. Standard analyze(mol, smiles) → dict interface. All engines return identical schema.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9281160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235440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9235440" y="3200400"/>
            <a:ext cx="285292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235440" y="3200400"/>
            <a:ext cx="285292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35440" y="3200400"/>
            <a:ext cx="2852928" cy="365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372600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Architecture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9372600" y="363931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372600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 with 24h TTL. hashlib MD5 of SMILES as key. API failures fall back silently. No app crashes on partial/missing data.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Stack, Deployment &amp; Visualizations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8163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8163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816352" cy="420624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 Frontend &amp; Framework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1.32+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framework — session state, file upload, components.v1, st.cache_data, secrets management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02336" y="2505456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 Express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charts: radar QED, BOILED-EGG scatter, heatmaps, histograms, metabolic pulse bars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02336" y="345643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CSS/JS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lines injected CSS — Crystalline Noir tokens + 3 floating panel apps in pure JavaScript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02336" y="4407408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800wt · JetBrains Mono 300–500wt · Inter 300–500wt · DM Serif Display (legacy)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00984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5264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55264" y="1097280"/>
            <a:ext cx="28163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5264" y="1097280"/>
            <a:ext cx="28163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5264" y="1097280"/>
            <a:ext cx="2816352" cy="420624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Chemistry &amp; Backend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6499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cheminformatics — all descriptors, filters, fingerprints (ECFP4), Murcko scaffolds, MMFF94 3D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364992" y="2505456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ops, descriptor vectors, similarity matrices, statistical calculations across compound sets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364992" y="345643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64992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processing, CSV I/O, Excel upload, batch property tables, filtered result displays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364992" y="4407408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 REST API calls. Timeout=8s. JSON parsing. Error boundary with silent fallback.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63640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1097280"/>
            <a:ext cx="28163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097280"/>
            <a:ext cx="28163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097280"/>
            <a:ext cx="2816352" cy="420624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&amp; APIs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27648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SDK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27648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claude-sonnet-4-20250514 via Python SDK. max_tokens=1000. Structured ADMET prompt builder.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327648" y="2505456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PubChem REST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27648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CID lookup, name resolution, 2D structure retrieval, synonym list fetch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327648" y="345643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ChEMBL API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27648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Bioactivity data, target annotations, clinical phase, approval status, mechanism of action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27648" y="4407408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UniProt / OT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27648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target info, pathway annotations, disease-target association scoring (OpenTargets)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9226296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0576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180576" y="1097280"/>
            <a:ext cx="28163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80576" y="1097280"/>
            <a:ext cx="28163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0576" y="1097280"/>
            <a:ext cx="2816352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72016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Deployment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290304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290304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— GitHub repo → app.streamlit.io one-click deploy. Auto-rebuild on push.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9290304" y="2505456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90304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90304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3.12 runtime. 46 source modules → compiled .pyc in __pycache__ at startup.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9290304" y="345643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90304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Database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290304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is session-local. No server-side persistence, no login, no authentication required.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9290304" y="4407408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90304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 Mgmt.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290304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secrets.toml for API keys. Template file committed, actual secrets excluded from git.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8759952" y="1161288"/>
            <a:ext cx="2880360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14232" y="1097280"/>
            <a:ext cx="2880360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714232" y="1097280"/>
            <a:ext cx="288036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14232" y="1097280"/>
            <a:ext cx="288036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1097280"/>
            <a:ext cx="2880360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23960" y="1097280"/>
            <a:ext cx="2651760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Visualizations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823960" y="159105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33688" y="15910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Plot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933688" y="1837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vs BBB scatter on tPSA×WLOGP. White ellipse = HIA+ zone. Yolk = BBB+ zone. Daina 2016.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823960" y="231343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33688" y="23134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Radar Chart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933688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8-spoke radar: MW, ALOGP, HBA, HBD, PSA, ROTB, AROM, ALERTS vs ideal drug profile.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823960" y="303580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33688" y="3035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 View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933688" y="32826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molecular structure via RDKit Draw3DMol. Shows spatial arrangement.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823960" y="37581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33688" y="37581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Heatmap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933688" y="40050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grid: MW/LogP/QED/tPSA/Score. Color-coded by percentile rank in library.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823960" y="4480560"/>
            <a:ext cx="36576" cy="54864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33688" y="44805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933688" y="47274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similarity from ECFP4 fingerprints. Seeds Butina clustering at 0.2 cutoff.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823960" y="520293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33688" y="5202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Hist.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933688" y="5449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Lead Score™ across batch. Grade cutoff reference lines at 35/50/60/70/80.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3832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292608" y="6355080"/>
            <a:ext cx="19019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2608" y="6355080"/>
            <a:ext cx="19019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2608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93268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MODULES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331720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86000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2286000" y="6355080"/>
            <a:ext cx="19019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86000" y="6355080"/>
            <a:ext cx="19019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86000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2926080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SCI. REFERENCES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4325112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4279392" y="6355080"/>
            <a:ext cx="19019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6355080"/>
            <a:ext cx="19019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79392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4919472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318504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72784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272784" y="6355080"/>
            <a:ext cx="19019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72784" y="6355080"/>
            <a:ext cx="19019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72784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6912864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CACHE TTL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8311896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66176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8266176" y="6355080"/>
            <a:ext cx="190195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66176" y="6355080"/>
            <a:ext cx="190195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66176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8s</a:t>
            </a:r>
            <a:endParaRPr lang="en-US" sz="1600" dirty="0"/>
          </a:p>
        </p:txBody>
      </p:sp>
      <p:sp>
        <p:nvSpPr>
          <p:cNvPr id="132" name="Text 130"/>
          <p:cNvSpPr/>
          <p:nvPr/>
        </p:nvSpPr>
        <p:spPr>
          <a:xfrm>
            <a:off x="8906256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TIMEOUT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030528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25956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10259568" y="6355080"/>
            <a:ext cx="1901952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568" y="6355080"/>
            <a:ext cx="1901952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259568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38" name="Text 136"/>
          <p:cNvSpPr/>
          <p:nvPr/>
        </p:nvSpPr>
        <p:spPr>
          <a:xfrm>
            <a:off x="1089964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CAPABLE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 — Crystalline Noir Design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 · NOVA V3.0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457200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457200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45720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45720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TOKEN SYSTEM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75488" y="1481328"/>
            <a:ext cx="4206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82880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--l-bg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10512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#020408  — void black base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0665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10512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#00D2BE — primary electric teal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23042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10512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#00F5E0 — teal highlight glow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25420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--l-amber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10512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#F0A020 — amber secondary accent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27797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--l-green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10512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#22D88A — emerald success state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0906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3467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Syne 800wt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10512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— 4rem–10rem  letter-spacing: -5px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10512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labels, version strings, CAPS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 300–500wt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10512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descriptions, navigation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40599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 Serif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10512" y="4059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display value (italic)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43708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46268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lOrb1/2/3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0512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radial orbs  20–32s alternating loops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" y="48646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810512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text sweep  5s linear infinite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" y="5102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lScan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10512" y="5102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line  200px gradient  8s top-to-bottom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" y="534009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lHexSpin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10512" y="5340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hex logo  4s ease-in-out infinite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" y="5577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lTickerScroll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10512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ticker belt  40s linear infinite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20640" y="116128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109728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109728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109728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109728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1097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623560" y="1143000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Navigation Bar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23560" y="1399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Frosted-glass nav with backdrop-filter: blur(32px). ChemoFilter brand + hex logo, 4 nav links, version badge (v1M · OMNIPOTENT).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120640" y="185623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4920" y="179222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74920" y="179222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74920" y="179222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74920" y="179222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179222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623560" y="1837944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Section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623560" y="209397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hero: animated eyebrow dot, 10rem Syne headline 'Chemo/Filter' with italic gradient sweep, stat bar, 16 feature chips.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120640" y="255117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74920" y="248716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074920" y="248716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74920" y="248716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74920" y="248716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66360" y="24871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5623560" y="2532888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 Bar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623560" y="278892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6-column grid: 21+ ADMET Params · 200+ FDA Anchors · 100k+ Tensors · 202 Refs · 9 Engine Tiers · 99.9% Confidence.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120640" y="3246120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74920" y="3182112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074920" y="3182112"/>
            <a:ext cx="678484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74920" y="3182112"/>
            <a:ext cx="678484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4920" y="3182112"/>
            <a:ext cx="45720" cy="64008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318211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6FF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623560" y="3227832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Ticker Belt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23560" y="348386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Infinite-scroll marquee of 22 algorithm names at 40s linear loop — Lipinski, BOILED-EGG, PAINS, Tanimoto, Claude AI...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5120640" y="3941064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74920" y="3877056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074920" y="3877056"/>
            <a:ext cx="6784848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74920" y="3877056"/>
            <a:ext cx="6784848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74920" y="3877056"/>
            <a:ext cx="45720" cy="64008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66360" y="387705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C8FF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5623560" y="3922776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Cards Grid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623560" y="417880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 responsive grid: 9 engine cards with tier badge, parameter count, hover lift effect and top glow-line on hover (::before).</a:t>
            </a:r>
            <a:endParaRPr lang="en-US" sz="830" dirty="0"/>
          </a:p>
        </p:txBody>
      </p:sp>
      <p:sp>
        <p:nvSpPr>
          <p:cNvPr id="88" name="Shape 86"/>
          <p:cNvSpPr/>
          <p:nvPr/>
        </p:nvSpPr>
        <p:spPr>
          <a:xfrm>
            <a:off x="5120640" y="463600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74920" y="457200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074920" y="457200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74920" y="457200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74920" y="457200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66360" y="4572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5623560" y="4617720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Workflow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5623560" y="487375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SMILES → Deep ADMET Scan → Lead Scoring → Export &amp; Report. Horizontal connector gradient line at step midpoints.</a:t>
            </a:r>
            <a:endParaRPr lang="en-US" sz="830" dirty="0"/>
          </a:p>
        </p:txBody>
      </p:sp>
      <p:sp>
        <p:nvSpPr>
          <p:cNvPr id="96" name="Shape 94"/>
          <p:cNvSpPr/>
          <p:nvPr/>
        </p:nvSpPr>
        <p:spPr>
          <a:xfrm>
            <a:off x="5120640" y="533095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74920" y="526694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074920" y="526694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74920" y="526694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74920" y="526694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66360" y="526694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5623560" y="5312664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Pills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5623560" y="556869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rounded pills: RDKit · Streamlit · Plotly · Anthropic · NumPy · Pandas · PubChem REST · Morgan ECFP4 · MMFF94 · PAINS...</a:t>
            </a:r>
            <a:endParaRPr lang="en-US" sz="830" dirty="0"/>
          </a:p>
        </p:txBody>
      </p:sp>
      <p:sp>
        <p:nvSpPr>
          <p:cNvPr id="104" name="Shape 102"/>
          <p:cNvSpPr/>
          <p:nvPr/>
        </p:nvSpPr>
        <p:spPr>
          <a:xfrm>
            <a:off x="5120640" y="602589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74920" y="596188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5074920" y="596188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074920" y="596188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74920" y="596188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66360" y="596188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5623560" y="6007608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CTA + Footer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623560" y="626364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launch button with hover glow (0 16px 60px rgba) + translateY(-3px). Footer with 3 citation refs. No login required.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6400800" cy="64008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Processing, Export &amp; Scientific References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 · CHEMO_IO.PY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989320" cy="30906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989320" cy="30906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98932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98932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989320" cy="438912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62356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Batch Processing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SMILES strings · CSV upload · Excel (.xlsx) · SDF/MOL file. Any format auto-detected on upload.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36499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process_molecule_batch() runs all compounds with Streamlit progress bar. Results dict keyed by SMILES hash.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91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Butina Cluster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Butina algorithm groups structurally similar compounds. Default Tanimoto cutoff = 0.2. Scaffold-based labeling.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36499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 Similarity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2048-bit Morgan fingerprints (radius=2) compute Tanimoto similarity matrix. Rendered as interactive heatmap.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3891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Murcko Scaffolds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scaffold extraction after all side chains removed. Group-by-scaffold analysis for SAR series identification.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36499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property radar charts for up to 5 compounds. Highlights outliers in MW, LogP, QED, tPSA, Score.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38328" y="4379976"/>
            <a:ext cx="5989320" cy="23134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4315968"/>
            <a:ext cx="5989320" cy="231343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315968"/>
            <a:ext cx="598932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4315968"/>
            <a:ext cx="598932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4315968"/>
            <a:ext cx="5989320" cy="402336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315968"/>
            <a:ext cx="562356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📤  Export System (chemo_io.py)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097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— all properties, grades, and filter passes as columns. One row per compound.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7705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 — full property tree per compound with metadata, timestamps, engine tier used.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097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styled HTML file — embedded CSS, dark-theme table, printable. No external deps.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7705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plain-text report with 202 scientific references appended in numbered format.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537960" y="1161288"/>
            <a:ext cx="537667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1097280"/>
            <a:ext cx="537667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92240" y="1097280"/>
            <a:ext cx="537667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1097280"/>
            <a:ext cx="537667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1097280"/>
            <a:ext cx="5376672" cy="438912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1097280"/>
            <a:ext cx="5010912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202 Scientific References (selected)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75120" y="1609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Drug-Likeness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1865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Lipinski C.A. et al. (2001) Drug Disc. Today — Rule of Five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675120" y="2139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Ghose A.K. et al. (1999) J. Comb. Chem. — Ghose Filter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675120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Veber D.F. et al. (2002) J. Med. Chem. — Oral Absorption Rules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675120" y="2688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Egan W.J. et al. (2000) J. Med. Chem. — Passive GI Absorption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675120" y="30358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&amp; Quality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Bickerton G.R. et al. (2012) Nature Chem. — QED Score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67512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&amp; Schuffenhauer A. (2009) J. Cheminf. — SA Score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67512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Wager T.T. et al. (2010) ACS Chem. Neurosci. — CNS MPO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67512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Daina A. &amp; Zoete V. (2016) ChemMedChem — BOILED-EGG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675120" y="44622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&amp; Toxicology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75120" y="4718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Baell J.B. &amp; Holloway G.A. (2010) J. Med. Chem. — PAINS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675120" y="4992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Sanguinetti M.C. et al. (2006) Br. J. Pharmacol. — hERG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675120" y="5266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Ames B.N. et al. (1975) Proc. Natl. Acad. Sci. — Ames Test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675120" y="5541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Brenk R. et al. (2008) ChemMedChem — Brenk Filter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675120" y="5888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Cheminformatics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75120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Rogers D. &amp; Hahn M. (2010) J. Chem. Inf. Model. — ECFP4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675120" y="6419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et al. (2008) J. Chem. Inf. Model. — NP-Score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6675120" y="6693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Murcko M.A. (1996) Perspect. Drug Disc. Design — Scaffolds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6675120" y="6967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Wiener H. (1947) J. Am. Chem. Soc. — Topological Index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00D2BE">
              <a:alpha val="7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7315200" cy="7315200"/>
          </a:xfrm>
          <a:prstGeom prst="ellipse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106656" y="0"/>
            <a:ext cx="54864" cy="685800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-457200"/>
            <a:ext cx="850392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60000" dirty="0"/>
          </a:p>
        </p:txBody>
      </p:sp>
      <p:sp>
        <p:nvSpPr>
          <p:cNvPr id="57" name="Shape 55"/>
          <p:cNvSpPr/>
          <p:nvPr/>
        </p:nvSpPr>
        <p:spPr>
          <a:xfrm>
            <a:off x="5257800" y="502920"/>
            <a:ext cx="1645920" cy="1645920"/>
          </a:xfrm>
          <a:prstGeom prst="ellipse">
            <a:avLst/>
          </a:prstGeom>
          <a:solidFill>
            <a:srgbClr val="00D2BE">
              <a:alpha val="20000"/>
            </a:srgbClr>
          </a:solidFill>
          <a:ln w="1905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257800" y="502920"/>
            <a:ext cx="164592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2BE"/>
                </a:solidFill>
              </a:rPr>
              <a:t>⬡</a:t>
            </a:r>
            <a:endParaRPr lang="en-US" sz="4200" dirty="0"/>
          </a:p>
        </p:txBody>
      </p:sp>
      <p:sp>
        <p:nvSpPr>
          <p:cNvPr id="59" name="Text 57"/>
          <p:cNvSpPr/>
          <p:nvPr/>
        </p:nvSpPr>
        <p:spPr>
          <a:xfrm>
            <a:off x="457200" y="1920240"/>
            <a:ext cx="112471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ChemoFilter</a:t>
            </a:r>
            <a:endParaRPr lang="en-US" sz="8000" dirty="0"/>
          </a:p>
        </p:txBody>
      </p:sp>
      <p:sp>
        <p:nvSpPr>
          <p:cNvPr id="60" name="Shape 58"/>
          <p:cNvSpPr/>
          <p:nvPr/>
        </p:nvSpPr>
        <p:spPr>
          <a:xfrm>
            <a:off x="1371600" y="3456432"/>
            <a:ext cx="9418320" cy="0"/>
          </a:xfrm>
          <a:prstGeom prst="line">
            <a:avLst/>
          </a:prstGeom>
          <a:noFill/>
          <a:ln w="12700">
            <a:solidFill>
              <a:srgbClr val="00D2BE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346704"/>
            <a:ext cx="365760" cy="219456"/>
          </a:xfrm>
          <a:prstGeom prst="ellipse">
            <a:avLst/>
          </a:prstGeom>
          <a:solidFill>
            <a:srgbClr val="00D2BE">
              <a:alpha val="50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584448"/>
            <a:ext cx="1124712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 ·  Crystalline Omnipotence Edition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71600" y="41330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B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"Targeted certainty in a multiverse of chemical possibilities."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7782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10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32104" y="4828032"/>
            <a:ext cx="1408176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" y="4828032"/>
            <a:ext cx="1408176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83210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37744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331720" y="4828032"/>
            <a:ext cx="1408176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31720" y="4828032"/>
            <a:ext cx="1408176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31720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233172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PARAMS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877056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1336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831336" y="4828032"/>
            <a:ext cx="1408176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31336" y="4828032"/>
            <a:ext cx="1408176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31336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3831336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376672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30952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330952" y="4828032"/>
            <a:ext cx="1408176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30952" y="4828032"/>
            <a:ext cx="1408176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30952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2600" dirty="0"/>
          </a:p>
        </p:txBody>
      </p:sp>
      <p:sp>
        <p:nvSpPr>
          <p:cNvPr id="87" name="Text 85"/>
          <p:cNvSpPr/>
          <p:nvPr/>
        </p:nvSpPr>
        <p:spPr>
          <a:xfrm>
            <a:off x="5330952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876288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30568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830568" y="4828032"/>
            <a:ext cx="1408176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30568" y="4828032"/>
            <a:ext cx="1408176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30568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2600" dirty="0"/>
          </a:p>
        </p:txBody>
      </p:sp>
      <p:sp>
        <p:nvSpPr>
          <p:cNvPr id="93" name="Text 91"/>
          <p:cNvSpPr/>
          <p:nvPr/>
        </p:nvSpPr>
        <p:spPr>
          <a:xfrm>
            <a:off x="6830568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837590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3018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330184" y="4828032"/>
            <a:ext cx="1408176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30184" y="4828032"/>
            <a:ext cx="1408176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30184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9" name="Text 97"/>
          <p:cNvSpPr/>
          <p:nvPr/>
        </p:nvSpPr>
        <p:spPr>
          <a:xfrm>
            <a:off x="833018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PANELS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987552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2980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F5E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9829800" y="4828032"/>
            <a:ext cx="1408176" cy="41148"/>
          </a:xfrm>
          <a:prstGeom prst="rect">
            <a:avLst/>
          </a:prstGeom>
          <a:solidFill>
            <a:srgbClr val="00F5E0">
              <a:alpha val="80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29800" y="4828032"/>
            <a:ext cx="1408176" cy="365760"/>
          </a:xfrm>
          <a:prstGeom prst="rect">
            <a:avLst/>
          </a:prstGeom>
          <a:solidFill>
            <a:srgbClr val="00F5E0">
              <a:alpha val="6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29800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F5E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600" dirty="0"/>
          </a:p>
        </p:txBody>
      </p:sp>
      <p:sp>
        <p:nvSpPr>
          <p:cNvPr id="105" name="Text 103"/>
          <p:cNvSpPr/>
          <p:nvPr/>
        </p:nvSpPr>
        <p:spPr>
          <a:xfrm>
            <a:off x="982980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POSSIBILITIES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 ·  MANAGEMENT DEVELOPMENT PROGRAM 2026  ·  ROLL NO. 25BCE1392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0" y="6473952"/>
            <a:ext cx="12161520" cy="20117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CHEMOFILTER.STREAMLIT.APP  ·  PYTHON 3.12  ·  RDKIT  ·  ANTHROPIC CLAUDE  ·  STREAMLIT CLOUD  ·  © VIT CHENNAI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ChemoFilter — Omnipotent Vanguard v2</dc:title>
  <dc:subject>PptxGenJS Presentation</dc:subject>
  <dc:creator>PptxGenJS</dc:creator>
  <cp:lastModifiedBy>PptxGenJS</cp:lastModifiedBy>
  <cp:revision>1</cp:revision>
  <dcterms:created xsi:type="dcterms:W3CDTF">2026-03-25T01:02:34Z</dcterms:created>
  <dcterms:modified xsi:type="dcterms:W3CDTF">2026-03-25T01:02:34Z</dcterms:modified>
</cp:coreProperties>
</file>